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749808"/>
            <a:ext cx="2395728" cy="310896"/>
          </a:xfrm>
          <a:prstGeom prst="roundRect">
            <a:avLst/>
          </a:prstGeom>
          <a:solidFill>
            <a:srgbClr val="293A58"/>
          </a:solidFill>
          <a:ln w="10160">
            <a:solidFill>
              <a:srgbClr val="29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777240"/>
            <a:ext cx="2249424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6899F4"/>
                </a:solidFill>
                <a:latin typeface="Microsoft YaHei"/>
              </a:defRPr>
            </a:pPr>
            <a:r>
              <a:t>STAGE 1 · TECHNICAL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99032"/>
            <a:ext cx="100584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Microsoft YaHei"/>
              </a:defRPr>
            </a:pPr>
            <a:r>
              <a:t>Lambertian × Per-light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0824"/>
            <a:ext cx="1005840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4300" b="1">
                <a:solidFill>
                  <a:srgbClr val="FFFFFF"/>
                </a:solidFill>
                <a:latin typeface="Microsoft YaHei"/>
              </a:defRPr>
            </a:pPr>
            <a:r>
              <a:t>法线恢复审计与实验复盘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44368"/>
            <a:ext cx="1069848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900" b="0">
                <a:solidFill>
                  <a:srgbClr val="BECAE0"/>
                </a:solidFill>
                <a:latin typeface="Microsoft YaHei"/>
              </a:defRPr>
            </a:pPr>
            <a:r>
              <a:t>坐标系 · 光强标定 · 梯度路径 · 独立 Normal · CV3 / CV3L 双数据集复验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995928"/>
            <a:ext cx="10588752" cy="1143000"/>
          </a:xfrm>
          <a:prstGeom prst="roundRect">
            <a:avLst/>
          </a:prstGeom>
          <a:solidFill>
            <a:srgbClr val="203150"/>
          </a:solidFill>
          <a:ln w="10160">
            <a:solidFill>
              <a:srgbClr val="39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4224528"/>
            <a:ext cx="11887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E57A44"/>
                </a:solidFill>
                <a:latin typeface="Microsoft YaHei"/>
              </a:defRPr>
            </a:pPr>
            <a:r>
              <a:t>结论先行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4553712"/>
            <a:ext cx="99212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坐标链路和调度 bug 已排除，但纯 RGB Lambertian 信号仍不能把独立 normal 优化向 GT。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6080760"/>
            <a:ext cx="4937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A5B2CC"/>
                </a:solidFill>
                <a:latin typeface="Microsoft YaHei"/>
              </a:defRPr>
            </a:pPr>
            <a:r>
              <a:t>2026-08-18  |  garuda / lumimotion-garuda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6080760"/>
            <a:ext cx="2011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200" b="0">
                <a:solidFill>
                  <a:srgbClr val="A5B2CC"/>
                </a:solidFill>
                <a:latin typeface="Microsoft YaHei"/>
              </a:defRPr>
            </a:pPr>
            <a:r>
              <a:t>LumiMotion-perlight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技术摘要：本轮已排除“工程性假因”，但 normal 仍退化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30352" y="1024128"/>
            <a:ext cx="350215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73152" cy="1874519"/>
          </a:xfrm>
          <a:prstGeom prst="rect">
            <a:avLst/>
          </a:prstGeom>
          <a:solidFill>
            <a:srgbClr val="2E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170432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E976D"/>
                </a:solidFill>
                <a:latin typeface="Microsoft YaHei"/>
              </a:defRPr>
            </a:pPr>
            <a:r>
              <a:t>已确认正常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554480"/>
            <a:ext cx="3154680" cy="1216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Microsoft YaHei"/>
              </a:defRPr>
            </a:pPr>
            <a:r>
              <a:t>Blender → export → loader → renderer 坐标链路一致</a:t>
            </a:r>
            <a:br/>
            <a:r>
              <a:t>R / normal / light 不再重复变换</a:t>
            </a:r>
            <a:br/>
            <a:r>
              <a:t>线性 Lambertian 与 sRGB 转换已校正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024128"/>
            <a:ext cx="350215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024128"/>
            <a:ext cx="73152" cy="1874519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170432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F6FED"/>
                </a:solidFill>
                <a:latin typeface="Microsoft YaHei"/>
              </a:defRPr>
            </a:pPr>
            <a:r>
              <a:t>已修复的具体问题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554480"/>
            <a:ext cx="3154680" cy="1216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Microsoft YaHei"/>
              </a:defRPr>
            </a:pPr>
            <a:r>
              <a:t>insight 额外符号翻转</a:t>
            </a:r>
            <a:br/>
            <a:r>
              <a:t>阶段名与真实 LR 不一致</a:t>
            </a:r>
            <a:br/>
            <a:r>
              <a:t>CV3L 错误复用光强 5.5</a:t>
            </a:r>
            <a:br/>
            <a:r>
              <a:t>训练中断后持久恢复与监视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024128"/>
            <a:ext cx="350215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024128"/>
            <a:ext cx="73152" cy="1874519"/>
          </a:xfrm>
          <a:prstGeom prst="rect">
            <a:avLst/>
          </a:prstGeom>
          <a:solidFill>
            <a:srgbClr val="E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170432"/>
            <a:ext cx="3154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E57A44"/>
                </a:solidFill>
                <a:latin typeface="Microsoft YaHei"/>
              </a:defRPr>
            </a:pPr>
            <a:r>
              <a:t>仍然失败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1554480"/>
            <a:ext cx="3154680" cy="1216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Microsoft YaHei"/>
              </a:defRPr>
            </a:pPr>
            <a:r>
              <a:t>CV3：25.60° → 28.69°</a:t>
            </a:r>
            <a:br/>
            <a:r>
              <a:t>CV3L：24.81° → 31.02°</a:t>
            </a:r>
            <a:br/>
            <a:r>
              <a:t>normal-only 阶段两个数据集均远离 GT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3246120"/>
            <a:ext cx="257860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364991"/>
            <a:ext cx="224942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Microsoft YaHei"/>
              </a:defRPr>
            </a:pPr>
            <a:r>
              <a:t>CV3 平均角误差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611879"/>
            <a:ext cx="2249424" cy="347472"/>
          </a:xfrm>
          <a:prstGeom prst="rect">
            <a:avLst/>
          </a:prstGeom>
          <a:noFill/>
        </p:spPr>
        <p:txBody>
          <a:bodyPr wrap="none" lIns="45720" rIns="45720" tIns="36576" bIns="36576" anchor="t">
            <a:spAutoFit/>
          </a:bodyPr>
          <a:lstStyle/>
          <a:p>
            <a:r>
              <a:rPr sz="2500" b="1">
                <a:solidFill>
                  <a:srgbClr val="E57A44"/>
                </a:solidFill>
                <a:latin typeface="Microsoft YaHei"/>
              </a:rPr>
              <a:t>28.69</a:t>
            </a:r>
            <a:r>
              <a:rPr sz="2500" b="0">
                <a:solidFill>
                  <a:srgbClr val="667085"/>
                </a:solidFill>
                <a:latin typeface="Microsoft YaHei"/>
              </a:rPr>
              <a:t>°  @35000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3977639"/>
            <a:ext cx="2249424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起点 25.60°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246120"/>
            <a:ext cx="257860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3364991"/>
            <a:ext cx="224942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Microsoft YaHei"/>
              </a:defRPr>
            </a:pPr>
            <a:r>
              <a:t>CV3L 平均角误差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3611879"/>
            <a:ext cx="2249424" cy="347472"/>
          </a:xfrm>
          <a:prstGeom prst="rect">
            <a:avLst/>
          </a:prstGeom>
          <a:noFill/>
        </p:spPr>
        <p:txBody>
          <a:bodyPr wrap="none" lIns="45720" rIns="45720" tIns="36576" bIns="36576" anchor="t">
            <a:spAutoFit/>
          </a:bodyPr>
          <a:lstStyle/>
          <a:p>
            <a:r>
              <a:rPr sz="2500" b="1">
                <a:solidFill>
                  <a:srgbClr val="C8424B"/>
                </a:solidFill>
                <a:latin typeface="Microsoft YaHei"/>
              </a:rPr>
              <a:t>31.02</a:t>
            </a:r>
            <a:r>
              <a:rPr sz="2500" b="0">
                <a:solidFill>
                  <a:srgbClr val="667085"/>
                </a:solidFill>
                <a:latin typeface="Microsoft YaHei"/>
              </a:rPr>
              <a:t>°  @35000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3977639"/>
            <a:ext cx="2249424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起点 24.81°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3246120"/>
            <a:ext cx="257860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364991"/>
            <a:ext cx="224942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Microsoft YaHei"/>
              </a:defRPr>
            </a:pPr>
            <a:r>
              <a:t>方向光 GT Oracle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611879"/>
            <a:ext cx="2249424" cy="347472"/>
          </a:xfrm>
          <a:prstGeom prst="rect">
            <a:avLst/>
          </a:prstGeom>
          <a:noFill/>
        </p:spPr>
        <p:txBody>
          <a:bodyPr wrap="none" lIns="45720" rIns="45720" tIns="36576" bIns="36576" anchor="t">
            <a:spAutoFit/>
          </a:bodyPr>
          <a:lstStyle/>
          <a:p>
            <a:r>
              <a:rPr sz="2500" b="1">
                <a:solidFill>
                  <a:srgbClr val="C84C8A"/>
                </a:solidFill>
                <a:latin typeface="Microsoft YaHei"/>
              </a:rPr>
              <a:t>≈16.5</a:t>
            </a:r>
            <a:r>
              <a:rPr sz="2500" b="0">
                <a:solidFill>
                  <a:srgbClr val="667085"/>
                </a:solidFill>
                <a:latin typeface="Microsoft YaHei"/>
              </a:rPr>
              <a:t>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77639"/>
            <a:ext cx="2249424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上限已显示建模失配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14816" y="3246120"/>
            <a:ext cx="28437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3364991"/>
            <a:ext cx="2514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Microsoft YaHei"/>
              </a:defRPr>
            </a:pPr>
            <a:r>
              <a:t>最优先的下一步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408" y="3611879"/>
            <a:ext cx="2514600" cy="347472"/>
          </a:xfrm>
          <a:prstGeom prst="rect">
            <a:avLst/>
          </a:prstGeom>
          <a:noFill/>
        </p:spPr>
        <p:txBody>
          <a:bodyPr wrap="none" lIns="45720" rIns="45720" tIns="36576" bIns="36576" anchor="t">
            <a:spAutoFit/>
          </a:bodyPr>
          <a:lstStyle/>
          <a:p>
            <a:r>
              <a:rPr sz="2500" b="1">
                <a:solidFill>
                  <a:srgbClr val="2E976D"/>
                </a:solidFill>
                <a:latin typeface="Microsoft YaHei"/>
              </a:rPr>
              <a:t>N0</a:t>
            </a:r>
            <a:r>
              <a:rPr sz="2500" b="0">
                <a:solidFill>
                  <a:srgbClr val="667085"/>
                </a:solidFill>
                <a:latin typeface="Microsoft YaHei"/>
              </a:rPr>
              <a:t>  GT-normal oracle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408" y="3977639"/>
            <a:ext cx="2514600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先判断表示/求导是否可用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" y="4617720"/>
            <a:ext cx="11128248" cy="1152144"/>
          </a:xfrm>
          <a:prstGeom prst="roundRect">
            <a:avLst/>
          </a:prstGeom>
          <a:solidFill>
            <a:srgbClr val="FDEFE6"/>
          </a:solidFill>
          <a:ln w="10160">
            <a:solidFill>
              <a:srgbClr val="FD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4855464"/>
            <a:ext cx="10058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E57A44"/>
                </a:solidFill>
                <a:latin typeface="Microsoft YaHei"/>
              </a:defRPr>
            </a:pPr>
            <a:r>
              <a:t>核心判断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56231" y="4818888"/>
            <a:ext cx="93268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E57A44"/>
                </a:solidFill>
                <a:latin typeface="Microsoft YaHei"/>
              </a:defRPr>
            </a:pPr>
            <a:r>
              <a:t>现在不应继续盲跑 35k photometric 训练；先用 GT-normal oracle 做可恢复性分界实验。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56231" y="5276088"/>
            <a:ext cx="93268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若 N0 通过，根因在光照/可辨识性；若 N0 失败，根因在 independent normal 表示、raster 或 evaluator。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来源：本轮审计报告、normal_metrics.json、训练日志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起点：为什么“简单 Lambertian + GT light”仍恢复不好 normal？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30352" y="987552"/>
            <a:ext cx="11128248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197864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F6FED"/>
                </a:solidFill>
                <a:latin typeface="Microsoft YaHei"/>
              </a:defRPr>
            </a:pPr>
            <a:r>
              <a:t>理论预期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3664" y="1152144"/>
            <a:ext cx="9281160" cy="356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Microsoft YaHei"/>
              </a:defRPr>
            </a:pPr>
            <a:r>
              <a:t>已知光照 + 相对可用的几何 + 无复杂高光/阴影  ⇒  光度误差应推动 normal 向真值收敛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2212848"/>
            <a:ext cx="3456432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2212848"/>
            <a:ext cx="73152" cy="2240280"/>
          </a:xfrm>
          <a:prstGeom prst="rect">
            <a:avLst/>
          </a:prstGeom>
          <a:solidFill>
            <a:srgbClr val="C8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359152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C84C8A"/>
                </a:solidFill>
                <a:latin typeface="Microsoft YaHei"/>
              </a:defRPr>
            </a:pPr>
            <a:r>
              <a:t>H1  近场光建模过粗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743200"/>
            <a:ext cx="3108960" cy="1581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Microsoft YaHei"/>
              </a:defRPr>
            </a:pPr>
            <a:r>
              <a:t>只用单个 light direction，无法表示光源离物体近时的空间方向变化。</a:t>
            </a:r>
            <a:br/>
            <a:br/>
            <a:r>
              <a:t>预期现象：椅背顶部、椅脚与平台的误差不同。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212848"/>
            <a:ext cx="3456432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212848"/>
            <a:ext cx="73152" cy="224028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59152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F6FED"/>
                </a:solidFill>
                <a:latin typeface="Microsoft YaHei"/>
              </a:defRPr>
            </a:pPr>
            <a:r>
              <a:t>H2  2DGS normal 约束过弱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43200"/>
            <a:ext cx="3108960" cy="1581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Microsoft YaHei"/>
              </a:defRPr>
            </a:pPr>
            <a:r>
              <a:t>normal 原本由 rotation 隐式给出；RGB loss 同时可通过 position / scale / opacity / albedo 下降。</a:t>
            </a:r>
            <a:br/>
            <a:br/>
            <a:r>
              <a:t>预期现象：梯度方向分散，normal 不是唯一解。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2212848"/>
            <a:ext cx="3456432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2" y="2212848"/>
            <a:ext cx="73152" cy="2240280"/>
          </a:xfrm>
          <a:prstGeom prst="rect">
            <a:avLst/>
          </a:prstGeom>
          <a:solidFill>
            <a:srgbClr val="E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359152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E57A44"/>
                </a:solidFill>
                <a:latin typeface="Microsoft YaHei"/>
              </a:defRPr>
            </a:pPr>
            <a:r>
              <a:t>H3  几何冻结策略不对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743200"/>
            <a:ext cx="3108960" cy="1581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Microsoft YaHei"/>
              </a:defRPr>
            </a:pPr>
            <a:r>
              <a:t>完全固定 GS 会同时锁死由 rotation 派生的 normal；放开全几何又可能让位置去吸收 RGB 误差。</a:t>
            </a:r>
            <a:br/>
            <a:br/>
            <a:r>
              <a:t>需要将 normal 从 raster geometry 解耦。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4818888"/>
            <a:ext cx="11128248" cy="93268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5065776"/>
            <a:ext cx="1056132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900" b="1">
                <a:solidFill>
                  <a:srgbClr val="2F6FED"/>
                </a:solidFill>
                <a:latin typeface="Microsoft YaHei"/>
              </a:defRPr>
            </a:pPr>
            <a:r>
              <a:t>审计目标：通过坐标链、光强 oracle、梯度分解、参数解耦和双数据集实验，将“实现 bug”与“反问题不可辨识”分开。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来源：用户提出的三类假设与本轮实验设计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这一轮做了什么：从管线审计到双数据集复验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68680" y="2852928"/>
            <a:ext cx="10451592" cy="0"/>
          </a:xfrm>
          <a:prstGeom prst="line">
            <a:avLst/>
          </a:prstGeom>
          <a:ln w="381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94944" y="2633472"/>
            <a:ext cx="438912" cy="438912"/>
          </a:xfrm>
          <a:prstGeom prst="ellipse">
            <a:avLst/>
          </a:prstGeom>
          <a:solidFill>
            <a:srgbClr val="2E976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24912"/>
            <a:ext cx="365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1124712"/>
            <a:ext cx="141732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" y="1261872"/>
            <a:ext cx="122529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50" b="1">
                <a:solidFill>
                  <a:srgbClr val="2E976D"/>
                </a:solidFill>
                <a:latin typeface="Microsoft YaHei"/>
              </a:defRPr>
            </a:pPr>
            <a:r>
              <a:t>坐标/渲染审计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" y="1655064"/>
            <a:ext cx="1225296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950" b="0">
                <a:solidFill>
                  <a:srgbClr val="1F2937"/>
                </a:solidFill>
                <a:latin typeface="Microsoft YaHei"/>
              </a:defRPr>
            </a:pPr>
            <a:r>
              <a:t>查 Blender、loader、camera、normal/light transform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249424"/>
            <a:ext cx="0" cy="384048"/>
          </a:xfrm>
          <a:prstGeom prst="line">
            <a:avLst/>
          </a:prstGeom>
          <a:ln w="15240">
            <a:solidFill>
              <a:srgbClr val="2E9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386584" y="2633472"/>
            <a:ext cx="438912" cy="438912"/>
          </a:xfrm>
          <a:prstGeom prst="ellipse">
            <a:avLst/>
          </a:prstGeom>
          <a:solidFill>
            <a:srgbClr val="2F6FE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2724912"/>
            <a:ext cx="365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47672" y="3310128"/>
            <a:ext cx="141732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48256" y="3447288"/>
            <a:ext cx="122529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50" b="1">
                <a:solidFill>
                  <a:srgbClr val="2F6FED"/>
                </a:solidFill>
                <a:latin typeface="Microsoft YaHei"/>
              </a:defRPr>
            </a:pPr>
            <a:r>
              <a:t>光强 5.5 标定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3840480"/>
            <a:ext cx="1225296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950" b="0">
                <a:solidFill>
                  <a:srgbClr val="1F2937"/>
                </a:solidFill>
                <a:latin typeface="Microsoft YaHei"/>
              </a:defRPr>
            </a:pPr>
            <a:r>
              <a:t>从近黑 I=1 恢复到可用曝光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606040" y="3072384"/>
            <a:ext cx="0" cy="237744"/>
          </a:xfrm>
          <a:prstGeom prst="line">
            <a:avLst/>
          </a:prstGeom>
          <a:ln w="1524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096511" y="2633472"/>
            <a:ext cx="438912" cy="438912"/>
          </a:xfrm>
          <a:prstGeom prst="ellipse">
            <a:avLst/>
          </a:prstGeom>
          <a:solidFill>
            <a:srgbClr val="C84C8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33087" y="2724912"/>
            <a:ext cx="365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1124712"/>
            <a:ext cx="141732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58183" y="1261872"/>
            <a:ext cx="122529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50" b="1">
                <a:solidFill>
                  <a:srgbClr val="C84C8A"/>
                </a:solidFill>
                <a:latin typeface="Microsoft YaHei"/>
              </a:defRPr>
            </a:pPr>
            <a:r>
              <a:t>前 500 步梯度审计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8183" y="1655064"/>
            <a:ext cx="1225296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950" b="0">
                <a:solidFill>
                  <a:srgbClr val="1F2937"/>
                </a:solidFill>
                <a:latin typeface="Microsoft YaHei"/>
              </a:defRPr>
            </a:pPr>
            <a:r>
              <a:t>分解 rotation / position / scale / opacity / albedo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15968" y="2249424"/>
            <a:ext cx="0" cy="384048"/>
          </a:xfrm>
          <a:prstGeom prst="line">
            <a:avLst/>
          </a:prstGeom>
          <a:ln w="15240">
            <a:solidFill>
              <a:srgbClr val="C84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797296" y="2633472"/>
            <a:ext cx="438912" cy="438912"/>
          </a:xfrm>
          <a:prstGeom prst="ellipse">
            <a:avLst/>
          </a:prstGeom>
          <a:solidFill>
            <a:srgbClr val="E57A4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3872" y="2724912"/>
            <a:ext cx="365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58384" y="3310128"/>
            <a:ext cx="141732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58968" y="3447288"/>
            <a:ext cx="122529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50" b="1">
                <a:solidFill>
                  <a:srgbClr val="E57A44"/>
                </a:solidFill>
                <a:latin typeface="Microsoft YaHei"/>
              </a:defRPr>
            </a:pPr>
            <a:r>
              <a:t>更正无效对照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8968" y="3840480"/>
            <a:ext cx="1225296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950" b="0">
                <a:solidFill>
                  <a:srgbClr val="1F2937"/>
                </a:solidFill>
                <a:latin typeface="Microsoft YaHei"/>
              </a:defRPr>
            </a:pPr>
            <a:r>
              <a:t>固定 GS 会锁死 normal，改为独立参数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6016752" y="3072384"/>
            <a:ext cx="0" cy="237744"/>
          </a:xfrm>
          <a:prstGeom prst="line">
            <a:avLst/>
          </a:prstGeom>
          <a:ln w="15240">
            <a:solidFill>
              <a:srgbClr val="E57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507223" y="2633472"/>
            <a:ext cx="438912" cy="438912"/>
          </a:xfrm>
          <a:prstGeom prst="ellipse">
            <a:avLst/>
          </a:prstGeom>
          <a:solidFill>
            <a:srgbClr val="2F6FE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2724912"/>
            <a:ext cx="365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68312" y="1124712"/>
            <a:ext cx="141732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68895" y="1261872"/>
            <a:ext cx="122529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50" b="1">
                <a:solidFill>
                  <a:srgbClr val="2F6FED"/>
                </a:solidFill>
                <a:latin typeface="Microsoft YaHei"/>
              </a:defRPr>
            </a:pPr>
            <a:r>
              <a:t>独立 normal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8895" y="1655064"/>
            <a:ext cx="1225296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950" b="0">
                <a:solidFill>
                  <a:srgbClr val="1F2937"/>
                </a:solidFill>
                <a:latin typeface="Microsoft YaHei"/>
              </a:defRPr>
            </a:pPr>
            <a:r>
              <a:t>仅进入 N·L，不影响 covariance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26679" y="2249424"/>
            <a:ext cx="0" cy="384048"/>
          </a:xfrm>
          <a:prstGeom prst="line">
            <a:avLst/>
          </a:prstGeom>
          <a:ln w="1524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217152" y="2633472"/>
            <a:ext cx="438912" cy="438912"/>
          </a:xfrm>
          <a:prstGeom prst="ellipse">
            <a:avLst/>
          </a:prstGeom>
          <a:solidFill>
            <a:srgbClr val="C8424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728" y="2724912"/>
            <a:ext cx="365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0" y="3310128"/>
            <a:ext cx="141732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78824" y="3447288"/>
            <a:ext cx="122529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50" b="1">
                <a:solidFill>
                  <a:srgbClr val="C8424B"/>
                </a:solidFill>
                <a:latin typeface="Microsoft YaHei"/>
              </a:defRPr>
            </a:pPr>
            <a:r>
              <a:t>调度与光强复审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78824" y="3840480"/>
            <a:ext cx="1225296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950" b="0">
                <a:solidFill>
                  <a:srgbClr val="1F2937"/>
                </a:solidFill>
                <a:latin typeface="Microsoft YaHei"/>
              </a:defRPr>
            </a:pPr>
            <a:r>
              <a:t>找到 albedo_only 名不副实与 CV3L 光强错用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9436608" y="3072384"/>
            <a:ext cx="0" cy="237744"/>
          </a:xfrm>
          <a:prstGeom prst="line">
            <a:avLst/>
          </a:prstGeom>
          <a:ln w="15240">
            <a:solidFill>
              <a:srgbClr val="C84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0917936" y="2633472"/>
            <a:ext cx="438912" cy="438912"/>
          </a:xfrm>
          <a:prstGeom prst="ellipse">
            <a:avLst/>
          </a:prstGeom>
          <a:solidFill>
            <a:srgbClr val="2E976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54512" y="2724912"/>
            <a:ext cx="365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79024" y="1124712"/>
            <a:ext cx="141732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9608" y="1261872"/>
            <a:ext cx="122529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50" b="1">
                <a:solidFill>
                  <a:srgbClr val="2E976D"/>
                </a:solidFill>
                <a:latin typeface="Microsoft YaHei"/>
              </a:defRPr>
            </a:pPr>
            <a:r>
              <a:t>正式双数据集训练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79608" y="1655064"/>
            <a:ext cx="1225296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950" b="0">
                <a:solidFill>
                  <a:srgbClr val="1F2937"/>
                </a:solidFill>
                <a:latin typeface="Microsoft YaHei"/>
              </a:defRPr>
            </a:pPr>
            <a:r>
              <a:t>CV3 / CV3L 至 35000，持久恢复和监视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1137392" y="2249424"/>
            <a:ext cx="0" cy="384048"/>
          </a:xfrm>
          <a:prstGeom prst="line">
            <a:avLst/>
          </a:prstGeom>
          <a:ln w="15240">
            <a:solidFill>
              <a:srgbClr val="2E9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67512" y="5193792"/>
            <a:ext cx="10872216" cy="640080"/>
          </a:xfrm>
          <a:prstGeom prst="roundRect">
            <a:avLst/>
          </a:prstGeom>
          <a:solidFill>
            <a:srgbClr val="FDEFE6"/>
          </a:solidFill>
          <a:ln w="10160">
            <a:solidFill>
              <a:srgbClr val="FD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5385816"/>
            <a:ext cx="10497312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E57A44"/>
                </a:solidFill>
                <a:latin typeface="Microsoft YaHei"/>
              </a:defRPr>
            </a:pPr>
            <a:r>
              <a:t>过程中有两次重要更正：固定 GS 对照逻辑无效；首轮“albedo-only”实际同时更新 normal。失败结果全部保留且不再作为正面证据。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来源：DOC/报告 08.13—08.18；output/0817-04；output/0817-05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坐标与变换复审：未发现能解释当前退化的二次 flip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66928" y="1243584"/>
            <a:ext cx="202996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408176"/>
            <a:ext cx="18105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2F6FED"/>
                </a:solidFill>
                <a:latin typeface="Microsoft YaHei"/>
              </a:defRPr>
            </a:pPr>
            <a:r>
              <a:t>Blender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792224"/>
            <a:ext cx="1810512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右手系</a:t>
            </a:r>
            <a:br/>
            <a:r>
              <a:t>几何 / GT normal / light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96896" y="1901952"/>
            <a:ext cx="256032" cy="0"/>
          </a:xfrm>
          <a:prstGeom prst="line">
            <a:avLst/>
          </a:prstGeom>
          <a:ln w="25400">
            <a:solidFill>
              <a:srgbClr val="689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07792" y="1243584"/>
            <a:ext cx="202996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408176"/>
            <a:ext cx="18105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2F6FED"/>
                </a:solidFill>
                <a:latin typeface="Microsoft YaHei"/>
              </a:defRPr>
            </a:pPr>
            <a:r>
              <a:t>dataset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792224"/>
            <a:ext cx="1810512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transforms + EXR</a:t>
            </a:r>
            <a:br/>
            <a:r>
              <a:t>保留 world 语义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0" y="1901952"/>
            <a:ext cx="256032" cy="0"/>
          </a:xfrm>
          <a:prstGeom prst="line">
            <a:avLst/>
          </a:prstGeom>
          <a:ln w="25400">
            <a:solidFill>
              <a:srgbClr val="689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48656" y="1243584"/>
            <a:ext cx="202996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8384" y="1408176"/>
            <a:ext cx="18105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2F6FED"/>
                </a:solidFill>
                <a:latin typeface="Microsoft YaHei"/>
              </a:defRPr>
            </a:pPr>
            <a:r>
              <a:t>LumiMotion loader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8384" y="1792224"/>
            <a:ext cx="1810512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camera pose 解析</a:t>
            </a:r>
            <a:br/>
            <a:r>
              <a:t>无 normal/light 额外 flip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78624" y="1901952"/>
            <a:ext cx="256032" cy="0"/>
          </a:xfrm>
          <a:prstGeom prst="line">
            <a:avLst/>
          </a:prstGeom>
          <a:ln w="25400">
            <a:solidFill>
              <a:srgbClr val="689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89520" y="1243584"/>
            <a:ext cx="202996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8" y="1408176"/>
            <a:ext cx="18105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2F6FED"/>
                </a:solidFill>
                <a:latin typeface="Microsoft YaHei"/>
              </a:defRPr>
            </a:pPr>
            <a:r>
              <a:t>runtime 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1792224"/>
            <a:ext cx="1810512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D = diag(1,-1,-1)</a:t>
            </a:r>
            <a:br/>
            <a:r>
              <a:t>det(D)=+1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19488" y="1901952"/>
            <a:ext cx="256031" cy="0"/>
          </a:xfrm>
          <a:prstGeom prst="line">
            <a:avLst/>
          </a:prstGeom>
          <a:ln w="25400">
            <a:solidFill>
              <a:srgbClr val="689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930384" y="1243584"/>
            <a:ext cx="1719072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40111" y="1408176"/>
            <a:ext cx="1499616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2F6FED"/>
                </a:solidFill>
                <a:latin typeface="Microsoft YaHei"/>
              </a:defRPr>
            </a:pPr>
            <a:r>
              <a:t>rasterizer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0111" y="1792224"/>
            <a:ext cx="1499616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normal/light</a:t>
            </a:r>
            <a:br/>
            <a:r>
              <a:t>在 world 中对齐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971800"/>
            <a:ext cx="1508760" cy="310896"/>
          </a:xfrm>
          <a:prstGeom prst="roundRect">
            <a:avLst/>
          </a:prstGeom>
          <a:solidFill>
            <a:srgbClr val="E8F7F0"/>
          </a:solidFill>
          <a:ln w="10160">
            <a:solidFill>
              <a:srgbClr val="E8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999232"/>
            <a:ext cx="136245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2E976D"/>
                </a:solidFill>
                <a:latin typeface="Microsoft YaHei"/>
              </a:defRPr>
            </a:pPr>
            <a:r>
              <a:t>核心审计结果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456432"/>
            <a:ext cx="1108252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547872"/>
            <a:ext cx="14173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相机 R 语义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547872"/>
            <a:ext cx="8028431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已核对 world-to-camera / camera-to-world 使用处，未见混用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1904" y="3547872"/>
            <a:ext cx="658368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2E976D"/>
                </a:solidFill>
                <a:latin typeface="Microsoft YaHei"/>
              </a:defRPr>
            </a:pPr>
            <a: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968496"/>
            <a:ext cx="1108252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059935"/>
            <a:ext cx="14173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normal 转换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4059935"/>
            <a:ext cx="8028431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renderer 不再对 world-space normal 做额外符号翻转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61904" y="4059935"/>
            <a:ext cx="658368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2E976D"/>
                </a:solidFill>
                <a:latin typeface="Microsoft YaHei"/>
              </a:defRPr>
            </a:pPr>
            <a: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480560"/>
            <a:ext cx="1108252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572000"/>
            <a:ext cx="14173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light 转换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572000"/>
            <a:ext cx="8028431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light direction 与 normal 处于同一 world frame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1904" y="4572000"/>
            <a:ext cx="658368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2E976D"/>
                </a:solidFill>
                <a:latin typeface="Microsoft YaHei"/>
              </a:defRPr>
            </a:pPr>
            <a:r>
              <a:t>PASS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992624"/>
            <a:ext cx="1108252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4173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手性 / 轴 flip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5084064"/>
            <a:ext cx="8028431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D 同时翻 y/z，det=+1，不构成镜像手性切换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61904" y="5084064"/>
            <a:ext cx="658368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2E976D"/>
                </a:solidFill>
                <a:latin typeface="Microsoft YaHe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742432"/>
            <a:ext cx="1083564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E57A44"/>
                </a:solidFill>
                <a:latin typeface="Microsoft YaHei"/>
              </a:defRPr>
            </a:pPr>
            <a:r>
              <a:t>保留风险：software raster 的 alpha 边界与多 Gaussian 混合仍可能放大边缘 normal 误差，但这不是全局轴翻转问题。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来源：DOC/报告/08.16.Lambertian渲染代码与坐标系全流程审计.md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Lambertian 渲染链修复：符号与 gamma 已按物理语义统一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58368" y="1225296"/>
            <a:ext cx="1865376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4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44752"/>
            <a:ext cx="16459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C84C8A"/>
                </a:solidFill>
                <a:latin typeface="Microsoft YaHei"/>
              </a:defRPr>
            </a:pPr>
            <a:r>
              <a:t>sRGB albedo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847088"/>
            <a:ext cx="1645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数据/参数的显示编码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32887" y="1874519"/>
            <a:ext cx="329185" cy="0"/>
          </a:xfrm>
          <a:prstGeom prst="line">
            <a:avLst/>
          </a:prstGeom>
          <a:ln w="254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07792" y="1225296"/>
            <a:ext cx="1865376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444752"/>
            <a:ext cx="16459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2F6FED"/>
                </a:solidFill>
                <a:latin typeface="Microsoft YaHei"/>
              </a:defRPr>
            </a:pPr>
            <a:r>
              <a:t>linear albedo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847088"/>
            <a:ext cx="1645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sRGB → linear，避免在 sRGB 域做物理乘法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82312" y="1874519"/>
            <a:ext cx="329184" cy="0"/>
          </a:xfrm>
          <a:prstGeom prst="line">
            <a:avLst/>
          </a:prstGeom>
          <a:ln w="254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57216" y="1225296"/>
            <a:ext cx="1865376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9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6944" y="1444752"/>
            <a:ext cx="16459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2E976D"/>
                </a:solidFill>
                <a:latin typeface="Microsoft YaHei"/>
              </a:defRPr>
            </a:pPr>
            <a:r>
              <a:t>Lambertian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6944" y="1847088"/>
            <a:ext cx="1645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albedo / π · irradiance · max(N·L,0)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31736" y="1874519"/>
            <a:ext cx="329183" cy="0"/>
          </a:xfrm>
          <a:prstGeom prst="line">
            <a:avLst/>
          </a:prstGeom>
          <a:ln w="254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1225296"/>
            <a:ext cx="1865376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7" y="1444752"/>
            <a:ext cx="16459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E57A44"/>
                </a:solidFill>
                <a:latin typeface="Microsoft YaHei"/>
              </a:defRPr>
            </a:pPr>
            <a:r>
              <a:t>alpha composite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7" y="1847088"/>
            <a:ext cx="1645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在 linear RGB 中合成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81159" y="1874519"/>
            <a:ext cx="329185" cy="0"/>
          </a:xfrm>
          <a:prstGeom prst="line">
            <a:avLst/>
          </a:prstGeom>
          <a:ln w="254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56064" y="1225296"/>
            <a:ext cx="1865376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65792" y="1444752"/>
            <a:ext cx="16459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2F6FED"/>
                </a:solidFill>
                <a:latin typeface="Microsoft YaHei"/>
              </a:defRPr>
            </a:pPr>
            <a:r>
              <a:t>display RGB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5792" y="1847088"/>
            <a:ext cx="1645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linear → sRGB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044952"/>
            <a:ext cx="3456432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044952"/>
            <a:ext cx="73152" cy="1664208"/>
          </a:xfrm>
          <a:prstGeom prst="rect">
            <a:avLst/>
          </a:prstGeom>
          <a:solidFill>
            <a:srgbClr val="2E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191256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E976D"/>
                </a:solidFill>
                <a:latin typeface="Microsoft YaHei"/>
              </a:defRPr>
            </a:pPr>
            <a:r>
              <a:t>符号翻转修复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3575304"/>
            <a:ext cx="310896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50" b="0">
                <a:solidFill>
                  <a:srgbClr val="1F2937"/>
                </a:solidFill>
                <a:latin typeface="Microsoft YaHei"/>
              </a:defRPr>
            </a:pPr>
            <a:r>
              <a:t>insight / evaluator 中曾对 normal 多翻转一次；已移除重复符号操作，保持与训练 renderer 一致。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3044952"/>
            <a:ext cx="3456432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3044952"/>
            <a:ext cx="73152" cy="166420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191256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F6FED"/>
                </a:solidFill>
                <a:latin typeface="Microsoft YaHei"/>
              </a:defRPr>
            </a:pPr>
            <a:r>
              <a:t>sRGB albedo 惩罚修复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575304"/>
            <a:ext cx="310896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50" b="0">
                <a:solidFill>
                  <a:srgbClr val="1F2937"/>
                </a:solidFill>
                <a:latin typeface="Microsoft YaHei"/>
              </a:defRPr>
            </a:pPr>
            <a:r>
              <a:t>光度方程在 linear 域运算；不再把 sRGB 数值直接当作线性反射率。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3296" y="3044952"/>
            <a:ext cx="3456432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83296" y="3044952"/>
            <a:ext cx="73152" cy="1664208"/>
          </a:xfrm>
          <a:prstGeom prst="rect">
            <a:avLst/>
          </a:prstGeom>
          <a:solidFill>
            <a:srgbClr val="E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4" y="3191256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E57A44"/>
                </a:solidFill>
                <a:latin typeface="Microsoft YaHei"/>
              </a:defRPr>
            </a:pPr>
            <a:r>
              <a:t>还需独立审计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3575304"/>
            <a:ext cx="310896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50" b="0">
                <a:solidFill>
                  <a:srgbClr val="1F2937"/>
                </a:solidFill>
                <a:latin typeface="Microsoft YaHei"/>
              </a:defRPr>
            </a:pPr>
            <a:r>
              <a:t>soft-alpha 边缘可能在多个阶段重复乘入；目前约 7k 级边缘像素受影响，本轮未实施修复。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074920"/>
            <a:ext cx="10881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294376"/>
            <a:ext cx="10387584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15233C"/>
                </a:solidFill>
                <a:latin typeface="Microsoft YaHei"/>
              </a:defRPr>
            </a:pPr>
            <a:r>
              <a:t>结论：当前 normal 退化不能再简单归因于“少翻/多翻了一个轴”或“sRGB/linear 用错”；这两类问题已修复后仍可复现退化。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来源：scene/photometric_lambertian.py；scripts/render_stage1_insights.py；utils/normal_eval_utils.py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光强与方向光 oracle：5.5 只适用 CV3，全局 lightdir 上限约 16.5 dB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66928" y="1051560"/>
            <a:ext cx="5413248" cy="1938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261872"/>
            <a:ext cx="48920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5233C"/>
                </a:solidFill>
                <a:latin typeface="Microsoft YaHei"/>
              </a:defRPr>
            </a:pPr>
            <a:r>
              <a:t>全局 directional irradiance 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73936"/>
            <a:ext cx="11430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CV3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1792224"/>
            <a:ext cx="2926080" cy="292608"/>
          </a:xfrm>
          <a:prstGeom prst="rect">
            <a:avLst/>
          </a:prstGeom>
          <a:solidFill>
            <a:srgbClr val="EAEDF3"/>
          </a:solidFill>
          <a:ln w="10160">
            <a:solidFill>
              <a:srgbClr val="EA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0" y="1792224"/>
            <a:ext cx="1894843" cy="292608"/>
          </a:xfrm>
          <a:prstGeom prst="rect">
            <a:avLst/>
          </a:prstGeom>
          <a:solidFill>
            <a:srgbClr val="2F6FED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3208" y="1773936"/>
            <a:ext cx="53035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2F6FED"/>
                </a:solidFill>
                <a:latin typeface="Microsoft YaHei"/>
              </a:defRPr>
            </a:pPr>
            <a:r>
              <a:t>5.504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53996"/>
            <a:ext cx="11430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CV3L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2272284"/>
            <a:ext cx="2926080" cy="292608"/>
          </a:xfrm>
          <a:prstGeom prst="rect">
            <a:avLst/>
          </a:prstGeom>
          <a:solidFill>
            <a:srgbClr val="EAEDF3"/>
          </a:solidFill>
          <a:ln w="10160">
            <a:solidFill>
              <a:srgbClr val="EA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2272284"/>
            <a:ext cx="2700079" cy="292608"/>
          </a:xfrm>
          <a:prstGeom prst="rect">
            <a:avLst/>
          </a:prstGeom>
          <a:solidFill>
            <a:srgbClr val="E57A44"/>
          </a:solidFill>
          <a:ln w="10160">
            <a:solidFill>
              <a:srgbClr val="E5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2253996"/>
            <a:ext cx="53035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E57A44"/>
                </a:solidFill>
                <a:latin typeface="Microsoft YaHei"/>
              </a:defRPr>
            </a:pPr>
            <a:r>
              <a:t>7.843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051560"/>
            <a:ext cx="5413248" cy="1938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261872"/>
            <a:ext cx="491947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5233C"/>
                </a:solidFill>
                <a:latin typeface="Microsoft YaHei"/>
              </a:defRPr>
            </a:pPr>
            <a:r>
              <a:t>GT RGB / albedo / normal / direction 的 oracle PSNR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773936"/>
            <a:ext cx="11430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CV3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08392" y="1792224"/>
            <a:ext cx="2944368" cy="292608"/>
          </a:xfrm>
          <a:prstGeom prst="rect">
            <a:avLst/>
          </a:prstGeom>
          <a:solidFill>
            <a:srgbClr val="EAEDF3"/>
          </a:solidFill>
          <a:ln w="10160">
            <a:solidFill>
              <a:srgbClr val="EA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08392" y="1792224"/>
            <a:ext cx="2402359" cy="292608"/>
          </a:xfrm>
          <a:prstGeom prst="rect">
            <a:avLst/>
          </a:prstGeom>
          <a:solidFill>
            <a:srgbClr val="C84C8A"/>
          </a:solidFill>
          <a:ln w="10160">
            <a:solidFill>
              <a:srgbClr val="C84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62487" y="1773936"/>
            <a:ext cx="53035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C84C8A"/>
                </a:solidFill>
                <a:latin typeface="Microsoft YaHei"/>
              </a:defRPr>
            </a:pPr>
            <a:r>
              <a:t>16.32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253996"/>
            <a:ext cx="11430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CV3L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08392" y="2272284"/>
            <a:ext cx="2944368" cy="292608"/>
          </a:xfrm>
          <a:prstGeom prst="rect">
            <a:avLst/>
          </a:prstGeom>
          <a:solidFill>
            <a:srgbClr val="EAEDF3"/>
          </a:solidFill>
          <a:ln w="10160">
            <a:solidFill>
              <a:srgbClr val="EA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08392" y="2272284"/>
            <a:ext cx="2432641" cy="292608"/>
          </a:xfrm>
          <a:prstGeom prst="rect">
            <a:avLst/>
          </a:prstGeom>
          <a:solidFill>
            <a:srgbClr val="E57A44"/>
          </a:solidFill>
          <a:ln w="10160">
            <a:solidFill>
              <a:srgbClr val="E5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62487" y="2253996"/>
            <a:ext cx="530352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E57A44"/>
                </a:solidFill>
                <a:latin typeface="Microsoft YaHei"/>
              </a:defRPr>
            </a:pPr>
            <a:r>
              <a:t>16.52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337560"/>
            <a:ext cx="1108252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3547872"/>
            <a:ext cx="10552176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5233C"/>
                </a:solidFill>
                <a:latin typeface="Microsoft YaHei"/>
              </a:defRPr>
            </a:pPr>
            <a:r>
              <a:t>从面光源中心到 Gaussian 的真实方向与全局 lightdir 的夹角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041648"/>
            <a:ext cx="4389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2F6FED"/>
                </a:solidFill>
                <a:latin typeface="Microsoft YaHei"/>
              </a:defRPr>
            </a:pPr>
            <a:r>
              <a:t>CV3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041648"/>
            <a:ext cx="1609344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Mean 6.19–7.58°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041648"/>
            <a:ext cx="193852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P95 10.46–12.89°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13832" y="4041648"/>
            <a:ext cx="126187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Max 14.39°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041648"/>
            <a:ext cx="5303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E57A44"/>
                </a:solidFill>
                <a:latin typeface="Microsoft YaHei"/>
              </a:defRPr>
            </a:pPr>
            <a:r>
              <a:t>CV3L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4041648"/>
            <a:ext cx="166420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Mean 6.27–7.65°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4041648"/>
            <a:ext cx="1975104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P95 10.41–12.74°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010912"/>
            <a:ext cx="11082528" cy="850392"/>
          </a:xfrm>
          <a:prstGeom prst="roundRect">
            <a:avLst/>
          </a:prstGeom>
          <a:solidFill>
            <a:srgbClr val="FDEFE6"/>
          </a:solidFill>
          <a:ln w="10160">
            <a:solidFill>
              <a:srgbClr val="FD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248656"/>
            <a:ext cx="10570464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E57A44"/>
                </a:solidFill>
                <a:latin typeface="Microsoft YaHei"/>
              </a:defRPr>
            </a:pPr>
            <a:r>
              <a:t>含义：即使 normal / albedo / RGB 都用 GT，单一全局方向光也只能给出约 16.5 dB。近场/面光源的空间变化是真实建模上限，而非调一个光强就能消除。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来源：output/smoke_test/0817-06, 0817-07 calibration.json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光强修复的可视化证据：I=1 近黑，GT directional I=5.5 恢复曝光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58368" y="987552"/>
            <a:ext cx="5303520" cy="310896"/>
          </a:xfrm>
          <a:prstGeom prst="roundRect">
            <a:avLst/>
          </a:prstGeom>
          <a:solidFill>
            <a:srgbClr val="FBEBED"/>
          </a:solidFill>
          <a:ln w="10160">
            <a:solidFill>
              <a:srgbClr val="FB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014984"/>
            <a:ext cx="515721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C8424B"/>
                </a:solidFill>
                <a:latin typeface="Microsoft YaHei"/>
              </a:defRPr>
            </a:pPr>
            <a:r>
              <a:t>原配置：gt_point，I=1.0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987552"/>
            <a:ext cx="5303520" cy="310896"/>
          </a:xfrm>
          <a:prstGeom prst="roundRect">
            <a:avLst/>
          </a:prstGeom>
          <a:solidFill>
            <a:srgbClr val="E8F7F0"/>
          </a:solidFill>
          <a:ln w="10160">
            <a:solidFill>
              <a:srgbClr val="E8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014984"/>
            <a:ext cx="515721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2E976D"/>
                </a:solidFill>
                <a:latin typeface="Microsoft YaHei"/>
              </a:defRPr>
            </a:pPr>
            <a:r>
              <a:t>标定后：GT directional，I=5.5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444752"/>
            <a:ext cx="5303520" cy="3200400"/>
          </a:xfrm>
          <a:prstGeom prst="rect">
            <a:avLst/>
          </a:prstGeom>
          <a:solidFill>
            <a:srgbClr val="15233C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ull_t0_camframe_0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53337"/>
            <a:ext cx="5303520" cy="298323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36208" y="1444752"/>
            <a:ext cx="5303520" cy="3200400"/>
          </a:xfrm>
          <a:prstGeom prst="rect">
            <a:avLst/>
          </a:prstGeom>
          <a:solidFill>
            <a:srgbClr val="15233C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ull_t0_camframe_0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553337"/>
            <a:ext cx="5303520" cy="29832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2104" y="4773168"/>
            <a:ext cx="4965192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C8424B"/>
                </a:solidFill>
                <a:latin typeface="Microsoft YaHei"/>
              </a:defRPr>
            </a:pPr>
            <a:r>
              <a:t>辐射量在 / π 和 1/r² 后严重不足；物体存在，但 RGB 接近全黑。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4773168"/>
            <a:ext cx="4946904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2E976D"/>
                </a:solidFill>
                <a:latin typeface="Microsoft YaHei"/>
              </a:defRPr>
            </a:pPr>
            <a:r>
              <a:t>灯板、椅子、台面与材质颜色回到可用曝光区间。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376672"/>
            <a:ext cx="1088136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522976"/>
            <a:ext cx="1048816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15233C"/>
                </a:solidFill>
                <a:latin typeface="Microsoft YaHei"/>
              </a:defRPr>
            </a:pPr>
            <a:r>
              <a:t>边界：这个对照证明“曝光尺度修复”，不证明 normal 恢复。5.5 解决了必要问题，但不是 Stage 1 通过的充分条件。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来源：output/smoke_test/0818-01；output/smoke_test/0818-02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前 500 步梯度审计：RGB 误差可被多类参数吸收，normal 没有直接保护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78992"/>
            <a:ext cx="5641848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ss_gradient_by_para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007" y="1078992"/>
            <a:ext cx="3615689" cy="3337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078992"/>
            <a:ext cx="5148072" cy="950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078992"/>
            <a:ext cx="73152" cy="95097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93407" y="1225295"/>
            <a:ext cx="4800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F6FED"/>
                </a:solidFill>
                <a:latin typeface="Microsoft YaHei"/>
              </a:defRPr>
            </a:pPr>
            <a:r>
              <a:t>观察 1  梯度路径过多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3407" y="1609343"/>
            <a:ext cx="48006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50" b="0">
                <a:solidFill>
                  <a:srgbClr val="1F2937"/>
                </a:solidFill>
                <a:latin typeface="Microsoft YaHei"/>
              </a:defRPr>
            </a:pPr>
            <a:r>
              <a:t>RGB / alpha loss 同时通向 rotation、position、scale、opacity、albedo。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212848"/>
            <a:ext cx="5148072" cy="950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2212848"/>
            <a:ext cx="73152" cy="950976"/>
          </a:xfrm>
          <a:prstGeom prst="rect">
            <a:avLst/>
          </a:prstGeom>
          <a:solidFill>
            <a:srgbClr val="C8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7" y="2359152"/>
            <a:ext cx="4800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C84C8A"/>
                </a:solidFill>
                <a:latin typeface="Microsoft YaHei"/>
              </a:defRPr>
            </a:pPr>
            <a:r>
              <a:t>观察 2  normal 不是显式目标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7" y="2743200"/>
            <a:ext cx="48006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50" b="0">
                <a:solidFill>
                  <a:srgbClr val="1F2937"/>
                </a:solidFill>
                <a:latin typeface="Microsoft YaHei"/>
              </a:defRPr>
            </a:pPr>
            <a:r>
              <a:t>未使用 GT-normal loss；原 raster normal_loss 对 independent normal 没有计算图连接。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346704"/>
            <a:ext cx="5148072" cy="1069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3346704"/>
            <a:ext cx="73152" cy="1069848"/>
          </a:xfrm>
          <a:prstGeom prst="rect">
            <a:avLst/>
          </a:prstGeom>
          <a:solidFill>
            <a:srgbClr val="E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7" y="3493008"/>
            <a:ext cx="4800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E57A44"/>
                </a:solidFill>
                <a:latin typeface="Microsoft YaHei"/>
              </a:defRPr>
            </a:pPr>
            <a:r>
              <a:t>观察 3  “固定几何”的初始对照无效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7" y="3877056"/>
            <a:ext cx="4800600" cy="4114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50" b="0">
                <a:solidFill>
                  <a:srgbClr val="1F2937"/>
                </a:solidFill>
                <a:latin typeface="Microsoft YaHei"/>
              </a:defRPr>
            </a:pPr>
            <a:r>
              <a:t>2DGS normal 由 GS rotation 派生；固定整个 GS 同时锁死 normal，不能验证 normal 能否被恢复。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736592"/>
            <a:ext cx="11073384" cy="1060704"/>
          </a:xfrm>
          <a:prstGeom prst="roundRect">
            <a:avLst/>
          </a:prstGeom>
          <a:solidFill>
            <a:srgbClr val="FDEFE6"/>
          </a:solidFill>
          <a:ln w="10160">
            <a:solidFill>
              <a:srgbClr val="FD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56048"/>
            <a:ext cx="142646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E57A44"/>
                </a:solidFill>
                <a:latin typeface="Microsoft YaHei"/>
              </a:defRPr>
            </a:pPr>
            <a:r>
              <a:t>实验逻辑更正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4919472"/>
            <a:ext cx="89611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E57A44"/>
                </a:solidFill>
                <a:latin typeface="Microsoft YaHei"/>
              </a:defRPr>
            </a:pPr>
            <a:r>
              <a:t>应当固定 raster geometry，但新增一个由初始 GS normal 初始化的独立参数，让它只进入 N·L。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9152" y="5330952"/>
            <a:ext cx="89611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这样才能分离“渲染几何变化”与“光度法线变化”。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来源：FIG/0816-01-CV3-i5p5-gradient-audit；08.16-前500步梯度审计报告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参数解耦：新增 independent photometric normal，但首轮联合训练仍退化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40080" y="1152144"/>
            <a:ext cx="2761488" cy="13167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08176"/>
            <a:ext cx="235000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2F6FED"/>
                </a:solidFill>
                <a:latin typeface="Microsoft YaHei"/>
              </a:defRPr>
            </a:pPr>
            <a:r>
              <a:t>GS rotation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37943"/>
            <a:ext cx="235000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初始化 normal 先验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01568" y="1810512"/>
            <a:ext cx="713232" cy="0"/>
          </a:xfrm>
          <a:prstGeom prst="line">
            <a:avLst/>
          </a:prstGeom>
          <a:ln w="31750">
            <a:solidFill>
              <a:srgbClr val="689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33087" y="1152144"/>
            <a:ext cx="3456432" cy="1316736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2544" y="1380744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2F6FED"/>
                </a:solidFill>
                <a:latin typeface="Microsoft YaHei"/>
              </a:defRPr>
            </a:pPr>
            <a:r>
              <a:t>independent photometric_normal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2544" y="1837943"/>
            <a:ext cx="30175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可训练；单位化；不改 covariance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89520" y="1810512"/>
            <a:ext cx="713232" cy="0"/>
          </a:xfrm>
          <a:prstGeom prst="line">
            <a:avLst/>
          </a:prstGeom>
          <a:ln w="31750">
            <a:solidFill>
              <a:srgbClr val="6899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321040" y="1152144"/>
            <a:ext cx="3218688" cy="13167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9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2" y="1408176"/>
            <a:ext cx="280720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2E976D"/>
                </a:solidFill>
                <a:latin typeface="Microsoft YaHei"/>
              </a:defRPr>
            </a:pPr>
            <a:r>
              <a:t>Lambertian N·L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1837943"/>
            <a:ext cx="280720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仅影响 photometric RGB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926080"/>
            <a:ext cx="74066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5233C"/>
                </a:solidFill>
                <a:latin typeface="Microsoft YaHei"/>
              </a:defRPr>
            </a:pPr>
            <a:r>
              <a:t>首轮（后证实实际为 albedo + normal 联合更新）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46704"/>
            <a:ext cx="7388352" cy="1380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93008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Microsoft YaHei"/>
              </a:defRPr>
            </a:pPr>
            <a:r>
              <a:t>数据集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3493008"/>
            <a:ext cx="1097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Microsoft YaHei"/>
              </a:defRPr>
            </a:pPr>
            <a:r>
              <a:t>@10001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493008"/>
            <a:ext cx="1097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Microsoft YaHei"/>
              </a:defRPr>
            </a:pPr>
            <a:r>
              <a:t>@10500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3493008"/>
            <a:ext cx="10058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Microsoft YaHei"/>
              </a:defRPr>
            </a:pPr>
            <a:r>
              <a:t>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3493008"/>
            <a:ext cx="1828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Microsoft YaHei"/>
              </a:defRPr>
            </a:pPr>
            <a:r>
              <a:t>逐帧结果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858768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50" b="1">
                <a:solidFill>
                  <a:srgbClr val="1F2937"/>
                </a:solidFill>
                <a:latin typeface="Microsoft YaHei"/>
              </a:defRPr>
            </a:pPr>
            <a:r>
              <a:t>CV3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1952" y="3858768"/>
            <a:ext cx="1097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50" b="1">
                <a:solidFill>
                  <a:srgbClr val="1F2937"/>
                </a:solidFill>
                <a:latin typeface="Microsoft YaHei"/>
              </a:defRPr>
            </a:pPr>
            <a:r>
              <a:t>23.719°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858768"/>
            <a:ext cx="1097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50" b="1">
                <a:solidFill>
                  <a:srgbClr val="1F2937"/>
                </a:solidFill>
                <a:latin typeface="Microsoft YaHei"/>
              </a:defRPr>
            </a:pPr>
            <a:r>
              <a:t>27.245°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3858768"/>
            <a:ext cx="10058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50" b="1">
                <a:solidFill>
                  <a:srgbClr val="E57A44"/>
                </a:solidFill>
                <a:latin typeface="Microsoft YaHei"/>
              </a:defRPr>
            </a:pPr>
            <a:r>
              <a:t>+3.526°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7296" y="3858768"/>
            <a:ext cx="1828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50" b="1">
                <a:solidFill>
                  <a:srgbClr val="E57A44"/>
                </a:solidFill>
                <a:latin typeface="Microsoft YaHei"/>
              </a:defRPr>
            </a:pPr>
            <a:r>
              <a:t>0 / 120 帧改善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242816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50" b="1">
                <a:solidFill>
                  <a:srgbClr val="1F2937"/>
                </a:solidFill>
                <a:latin typeface="Microsoft YaHei"/>
              </a:defRPr>
            </a:pPr>
            <a:r>
              <a:t>CV3L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1952" y="4242816"/>
            <a:ext cx="1097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50" b="1">
                <a:solidFill>
                  <a:srgbClr val="1F2937"/>
                </a:solidFill>
                <a:latin typeface="Microsoft YaHei"/>
              </a:defRPr>
            </a:pPr>
            <a:r>
              <a:t>25.385°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242816"/>
            <a:ext cx="1097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50" b="1">
                <a:solidFill>
                  <a:srgbClr val="1F2937"/>
                </a:solidFill>
                <a:latin typeface="Microsoft YaHei"/>
              </a:defRPr>
            </a:pPr>
            <a:r>
              <a:t>28.148°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242816"/>
            <a:ext cx="10058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50" b="1">
                <a:solidFill>
                  <a:srgbClr val="E57A44"/>
                </a:solidFill>
                <a:latin typeface="Microsoft YaHei"/>
              </a:defRPr>
            </a:pPr>
            <a:r>
              <a:t>+2.762°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97296" y="4242816"/>
            <a:ext cx="1828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50" b="1">
                <a:solidFill>
                  <a:srgbClr val="E57A44"/>
                </a:solidFill>
                <a:latin typeface="Microsoft YaHei"/>
              </a:defRPr>
            </a:pPr>
            <a:r>
              <a:t>0 / 120 帧改善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39327" y="2926080"/>
            <a:ext cx="3200400" cy="1801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39327" y="2926080"/>
            <a:ext cx="73152" cy="1801368"/>
          </a:xfrm>
          <a:prstGeom prst="rect">
            <a:avLst/>
          </a:prstGeom>
          <a:solidFill>
            <a:srgbClr val="E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3072384"/>
            <a:ext cx="28529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E57A44"/>
                </a:solidFill>
                <a:latin typeface="Microsoft YaHei"/>
              </a:defRPr>
            </a:pPr>
            <a:r>
              <a:t>关键物证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0496" y="3456432"/>
            <a:ext cx="2852928" cy="11430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50" b="0">
                <a:solidFill>
                  <a:srgbClr val="1F2937"/>
                </a:solidFill>
                <a:latin typeface="Microsoft YaHei"/>
              </a:defRPr>
            </a:pPr>
            <a:r>
              <a:t>normal 漂移约 15°</a:t>
            </a:r>
            <a:br/>
            <a:r>
              <a:t>albedo 变化约 0.17</a:t>
            </a:r>
            <a:br/>
            <a:r>
              <a:t>geometry / light 变化为 0</a:t>
            </a:r>
            <a:br/>
            <a:br/>
            <a:r>
              <a:t>表明退化发生在材质解空间内。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38928"/>
            <a:ext cx="10881360" cy="667512"/>
          </a:xfrm>
          <a:prstGeom prst="roundRect">
            <a:avLst/>
          </a:prstGeom>
          <a:solidFill>
            <a:srgbClr val="FBEBED"/>
          </a:solidFill>
          <a:ln w="10160">
            <a:solidFill>
              <a:srgbClr val="FB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5340096"/>
            <a:ext cx="1045159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C8424B"/>
                </a:solidFill>
                <a:latin typeface="Microsoft YaHei"/>
              </a:defRPr>
            </a:pPr>
            <a:r>
              <a:t>问题：日志虽标记 albedo_only，normal LR 实际也是非零；因此这轮不能证明“先 albedo 再 normal”。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来源：08.17-Stage1-Lambertian损失函数审计；独立Normal前500步阶段审计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复审后的代码/实验修复：调度、光强、先验和恢复都可追踪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21792" y="1088136"/>
            <a:ext cx="5340096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399032"/>
            <a:ext cx="438912" cy="438912"/>
          </a:xfrm>
          <a:prstGeom prst="ellipse">
            <a:avLst/>
          </a:prstGeom>
          <a:solidFill>
            <a:srgbClr val="2E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90472"/>
            <a:ext cx="34747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271016"/>
            <a:ext cx="4315968" cy="2834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E976D"/>
                </a:solidFill>
                <a:latin typeface="Microsoft YaHei"/>
              </a:defRPr>
            </a:pPr>
            <a:r>
              <a:t>真实阶段调度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627631"/>
            <a:ext cx="4315968" cy="3383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10001–10500 仅 albedo；10501 起 albedo=0、normal=1e-4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88136"/>
            <a:ext cx="5340096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399032"/>
            <a:ext cx="438912" cy="438912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34747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6016" y="1271016"/>
            <a:ext cx="4315968" cy="2834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F6FED"/>
                </a:solidFill>
                <a:latin typeface="Microsoft YaHei"/>
              </a:defRPr>
            </a:pPr>
            <a:r>
              <a:t>CV3L 独立光强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016" y="1627631"/>
            <a:ext cx="4315968" cy="3383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使用 7.8434867，不再复用 CV3 的 5.5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459736"/>
            <a:ext cx="5340096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4672" y="2770632"/>
            <a:ext cx="438912" cy="438912"/>
          </a:xfrm>
          <a:prstGeom prst="ellipse">
            <a:avLst/>
          </a:prstGeom>
          <a:solidFill>
            <a:srgbClr val="C8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862072"/>
            <a:ext cx="34747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2642616"/>
            <a:ext cx="4315968" cy="2834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C84C8A"/>
                </a:solidFill>
                <a:latin typeface="Microsoft YaHei"/>
              </a:defRPr>
            </a:pPr>
            <a:r>
              <a:t>normal 初始先验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2999232"/>
            <a:ext cx="4315968" cy="3383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mean(1 - dot(n,n_init)) × 0.01，限制无界漂移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459736"/>
            <a:ext cx="5340096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2770632"/>
            <a:ext cx="438912" cy="438912"/>
          </a:xfrm>
          <a:prstGeom prst="ellipse">
            <a:avLst/>
          </a:prstGeom>
          <a:solidFill>
            <a:srgbClr val="E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862072"/>
            <a:ext cx="34747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2642616"/>
            <a:ext cx="4315968" cy="2834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E57A44"/>
                </a:solidFill>
                <a:latin typeface="Microsoft YaHei"/>
              </a:defRPr>
            </a:pPr>
            <a:r>
              <a:t>固定不相干参数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2999232"/>
            <a:ext cx="4315968" cy="3383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photometric 阶段固定 geometry / deformation / GT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3831335"/>
            <a:ext cx="5340096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672" y="4142231"/>
            <a:ext cx="438912" cy="438912"/>
          </a:xfrm>
          <a:prstGeom prst="ellipse">
            <a:avLst/>
          </a:prstGeom>
          <a:solidFill>
            <a:srgbClr val="2E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4233672"/>
            <a:ext cx="34747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4014215"/>
            <a:ext cx="4315968" cy="2834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E976D"/>
                </a:solidFill>
                <a:latin typeface="Microsoft YaHei"/>
              </a:defRPr>
            </a:pPr>
            <a:r>
              <a:t>调度回归测试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4370831"/>
            <a:ext cx="4315968" cy="3383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3/3 schedule tests 通过；早先相关测试共 23 项通过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831335"/>
            <a:ext cx="5340096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0" y="4142231"/>
            <a:ext cx="438912" cy="438912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233672"/>
            <a:ext cx="34747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4014215"/>
            <a:ext cx="4315968" cy="2834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F6FED"/>
                </a:solidFill>
                <a:latin typeface="Microsoft YaHei"/>
              </a:defRPr>
            </a:pPr>
            <a:r>
              <a:t>持久恢复与监视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4370831"/>
            <a:ext cx="4315968" cy="3383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临时会话中断后从 iter 5000 恢复，tmux 监视至 35000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5285232"/>
            <a:ext cx="11036808" cy="56692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5449824"/>
            <a:ext cx="1056132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2F6FED"/>
                </a:solidFill>
                <a:latin typeface="Microsoft YaHei"/>
              </a:defRPr>
            </a:pPr>
            <a:r>
              <a:t>这些修复使得最终实验可解释：若 normal 仍退化，就不再是“参数其实没冻住”或“用错光强”。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来源：arguments/__init__.py；scripts/train_stage1.py；scene/gaussian_model.py；tests/test_photometric_material_schedule.py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正式双数据集实验：先 albedo 后 normal，每个阶段的可训参数唯一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1078992"/>
            <a:ext cx="1152144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667085"/>
                </a:solidFill>
                <a:latin typeface="Microsoft YaHei"/>
              </a:defRPr>
            </a:pPr>
            <a:r>
              <a:t>全局 iteration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792224" y="1024128"/>
            <a:ext cx="2800676" cy="768096"/>
          </a:xfrm>
          <a:prstGeom prst="rect">
            <a:avLst/>
          </a:prstGeom>
          <a:solidFill>
            <a:srgbClr val="15233C"/>
          </a:solidFill>
          <a:ln w="10160">
            <a:solidFill>
              <a:srgbClr val="15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37943" y="1133856"/>
            <a:ext cx="2709236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1–10000  SH 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37943" y="1399032"/>
            <a:ext cx="2709236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原始外观/几何训练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2900" y="1024128"/>
            <a:ext cx="140033" cy="768096"/>
          </a:xfrm>
          <a:prstGeom prst="rect">
            <a:avLst/>
          </a:prstGeom>
          <a:solidFill>
            <a:srgbClr val="2E976D"/>
          </a:solidFill>
          <a:ln w="10160">
            <a:solidFill>
              <a:srgbClr val="2E9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8620" y="1133856"/>
            <a:ext cx="182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638620" y="1399032"/>
            <a:ext cx="182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4732934" y="1024128"/>
            <a:ext cx="6861657" cy="768096"/>
          </a:xfrm>
          <a:prstGeom prst="rect">
            <a:avLst/>
          </a:prstGeom>
          <a:solidFill>
            <a:srgbClr val="E57A44"/>
          </a:solidFill>
          <a:ln w="10160">
            <a:solidFill>
              <a:srgbClr val="E5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8654" y="1133856"/>
            <a:ext cx="6770217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10501–35000  Normal-only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8654" y="1399032"/>
            <a:ext cx="6770217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冻结 albedo / geometry / deformation / 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865376"/>
            <a:ext cx="126187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2E976D"/>
                </a:solidFill>
                <a:latin typeface="Microsoft YaHei"/>
              </a:defRPr>
            </a:pPr>
            <a:r>
              <a:t>10001–10500</a:t>
            </a:r>
            <a:br/>
            <a:r>
              <a:t>Albedo-only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97096" y="1783080"/>
            <a:ext cx="0" cy="73151"/>
          </a:xfrm>
          <a:prstGeom prst="line">
            <a:avLst/>
          </a:prstGeom>
          <a:ln w="15240">
            <a:solidFill>
              <a:srgbClr val="2E9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1792" y="2441448"/>
            <a:ext cx="11274552" cy="438912"/>
          </a:xfrm>
          <a:prstGeom prst="rect">
            <a:avLst/>
          </a:prstGeom>
          <a:solidFill>
            <a:srgbClr val="15233C"/>
          </a:solidFill>
          <a:ln w="10160">
            <a:solidFill>
              <a:srgbClr val="15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551176"/>
            <a:ext cx="1874519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阶段 / 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542032"/>
            <a:ext cx="1152144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1336" y="2542032"/>
            <a:ext cx="1152144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rotation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542032"/>
            <a:ext cx="1152144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2542032"/>
            <a:ext cx="1152144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opacity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2542032"/>
            <a:ext cx="1152144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deformation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2542032"/>
            <a:ext cx="1152144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GT light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92056" y="2542032"/>
            <a:ext cx="1152144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albedo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2542032"/>
            <a:ext cx="1152144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independent normal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2880360"/>
            <a:ext cx="11274552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035808"/>
            <a:ext cx="1837943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SH 1–10000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9192" y="3035808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1">
                <a:solidFill>
                  <a:srgbClr val="2E976D"/>
                </a:solidFill>
                <a:latin typeface="Microsoft YaHei"/>
              </a:defRPr>
            </a:pPr>
            <a:r>
              <a:t>训练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31336" y="3035808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1">
                <a:solidFill>
                  <a:srgbClr val="2E976D"/>
                </a:solidFill>
                <a:latin typeface="Microsoft YaHei"/>
              </a:defRPr>
            </a:pPr>
            <a:r>
              <a:t>训练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3035808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1">
                <a:solidFill>
                  <a:srgbClr val="2E976D"/>
                </a:solidFill>
                <a:latin typeface="Microsoft YaHei"/>
              </a:defRPr>
            </a:pPr>
            <a:r>
              <a:t>训练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5624" y="3035808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1">
                <a:solidFill>
                  <a:srgbClr val="2E976D"/>
                </a:solidFill>
                <a:latin typeface="Microsoft YaHei"/>
              </a:defRPr>
            </a:pPr>
            <a:r>
              <a:t>训练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7768" y="3035808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1">
                <a:solidFill>
                  <a:srgbClr val="2E976D"/>
                </a:solidFill>
                <a:latin typeface="Microsoft YaHei"/>
              </a:defRPr>
            </a:pPr>
            <a:r>
              <a:t>训练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2" y="3035808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92056" y="3035808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4200" y="3035808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" y="3410712"/>
            <a:ext cx="11274552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566160"/>
            <a:ext cx="1837943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Albedo 10001–10500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79192" y="3566160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冻结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31336" y="3566160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冻结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3566160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冻结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35624" y="3566160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冻结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87768" y="3566160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冻结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9912" y="3566160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冻结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92056" y="3566160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1">
                <a:solidFill>
                  <a:srgbClr val="2E976D"/>
                </a:solidFill>
                <a:latin typeface="Microsoft YaHei"/>
              </a:defRPr>
            </a:pPr>
            <a:r>
              <a:t>训练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4200" y="3566160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冻结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" y="3941063"/>
            <a:ext cx="11274552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096511"/>
            <a:ext cx="1837943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Normal 10501–35000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79192" y="4096511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冻结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31336" y="4096511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冻结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80" y="4096511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冻结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35624" y="4096511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冻结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87768" y="4096511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冻结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9912" y="4096511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冻结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92056" y="4096511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冻结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44200" y="4096511"/>
            <a:ext cx="1152144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50" b="1">
                <a:solidFill>
                  <a:srgbClr val="2E976D"/>
                </a:solidFill>
                <a:latin typeface="Microsoft YaHei"/>
              </a:defRPr>
            </a:pPr>
            <a:r>
              <a:t>训练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" y="4690872"/>
            <a:ext cx="26151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6384" y="4809744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Microsoft YaHei"/>
              </a:defRPr>
            </a:pPr>
            <a:r>
              <a:t>CV3 light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" y="5056632"/>
            <a:ext cx="2286000" cy="347472"/>
          </a:xfrm>
          <a:prstGeom prst="rect">
            <a:avLst/>
          </a:prstGeom>
          <a:noFill/>
        </p:spPr>
        <p:txBody>
          <a:bodyPr wrap="none" lIns="45720" rIns="45720" tIns="36576" bIns="36576" anchor="t">
            <a:spAutoFit/>
          </a:bodyPr>
          <a:lstStyle/>
          <a:p>
            <a:r>
              <a:rPr sz="2500" b="1">
                <a:solidFill>
                  <a:srgbClr val="2F6FED"/>
                </a:solidFill>
                <a:latin typeface="Microsoft YaHei"/>
              </a:rPr>
              <a:t>5.504</a:t>
            </a:r>
            <a:r>
              <a:rPr sz="2500" b="0">
                <a:solidFill>
                  <a:srgbClr val="667085"/>
                </a:solidFill>
                <a:latin typeface="Microsoft YaHei"/>
              </a:rPr>
              <a:t>  fixed GT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29000" y="4690872"/>
            <a:ext cx="26151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93592" y="4809744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Microsoft YaHei"/>
              </a:defRPr>
            </a:pPr>
            <a:r>
              <a:t>CV3L light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3592" y="5056632"/>
            <a:ext cx="2286000" cy="347472"/>
          </a:xfrm>
          <a:prstGeom prst="rect">
            <a:avLst/>
          </a:prstGeom>
          <a:noFill/>
        </p:spPr>
        <p:txBody>
          <a:bodyPr wrap="none" lIns="45720" rIns="45720" tIns="36576" bIns="36576" anchor="t">
            <a:spAutoFit/>
          </a:bodyPr>
          <a:lstStyle/>
          <a:p>
            <a:r>
              <a:rPr sz="2500" b="1">
                <a:solidFill>
                  <a:srgbClr val="E57A44"/>
                </a:solidFill>
                <a:latin typeface="Microsoft YaHei"/>
              </a:rPr>
              <a:t>7.843</a:t>
            </a:r>
            <a:r>
              <a:rPr sz="2500" b="0">
                <a:solidFill>
                  <a:srgbClr val="667085"/>
                </a:solidFill>
                <a:latin typeface="Microsoft YaHei"/>
              </a:rPr>
              <a:t>  fixed GT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36208" y="4690872"/>
            <a:ext cx="26151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4809744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Microsoft YaHei"/>
              </a:defRPr>
            </a:pPr>
            <a:r>
              <a:t>normal LR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056632"/>
            <a:ext cx="2286000" cy="347472"/>
          </a:xfrm>
          <a:prstGeom prst="rect">
            <a:avLst/>
          </a:prstGeom>
          <a:noFill/>
        </p:spPr>
        <p:txBody>
          <a:bodyPr wrap="none" lIns="45720" rIns="45720" tIns="36576" bIns="36576" anchor="t">
            <a:spAutoFit/>
          </a:bodyPr>
          <a:lstStyle/>
          <a:p>
            <a:r>
              <a:rPr sz="2500" b="1">
                <a:solidFill>
                  <a:srgbClr val="C84C8A"/>
                </a:solidFill>
                <a:latin typeface="Microsoft YaHei"/>
              </a:rPr>
              <a:t>1e-4</a:t>
            </a:r>
            <a:r>
              <a:rPr sz="2500" b="0">
                <a:solidFill>
                  <a:srgbClr val="667085"/>
                </a:solidFill>
                <a:latin typeface="Microsoft YaHei"/>
              </a:rPr>
              <a:t/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43416" y="4690872"/>
            <a:ext cx="26151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08008" y="4809744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Microsoft YaHei"/>
              </a:defRPr>
            </a:pPr>
            <a:r>
              <a:t>GT-normal loss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08008" y="5056632"/>
            <a:ext cx="2286000" cy="347472"/>
          </a:xfrm>
          <a:prstGeom prst="rect">
            <a:avLst/>
          </a:prstGeom>
          <a:noFill/>
        </p:spPr>
        <p:txBody>
          <a:bodyPr wrap="none" lIns="45720" rIns="45720" tIns="36576" bIns="36576" anchor="t">
            <a:spAutoFit/>
          </a:bodyPr>
          <a:lstStyle/>
          <a:p>
            <a:r>
              <a:rPr sz="2500" b="1">
                <a:solidFill>
                  <a:srgbClr val="C8424B"/>
                </a:solidFill>
                <a:latin typeface="Microsoft YaHei"/>
              </a:rPr>
              <a:t>0</a:t>
            </a:r>
            <a:r>
              <a:rPr sz="2500" b="0">
                <a:solidFill>
                  <a:srgbClr val="667085"/>
                </a:solidFill>
                <a:latin typeface="Microsoft YaHei"/>
              </a:rPr>
              <a:t>  仅离线评估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5934456"/>
            <a:ext cx="1091793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2E976D"/>
                </a:solidFill>
                <a:latin typeface="Microsoft YaHei"/>
              </a:defRPr>
            </a:pPr>
            <a:r>
              <a:t>两个任务均已到 iter 35000，最终监视日志错误标记为 0。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来源：output/0817-04；output/0817-05；process_monitor_0818.log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正式实验结果：Albedo-only 不改 normal，Normal-only 使两个数据集均退化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94360" y="1042415"/>
            <a:ext cx="5394960" cy="3236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493776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5233C"/>
                </a:solidFill>
                <a:latin typeface="Microsoft YaHei"/>
              </a:defRPr>
            </a:pPr>
            <a:r>
              <a:t>CV3 平均角误差（°）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2728" y="2436064"/>
            <a:ext cx="804672" cy="1404415"/>
          </a:xfrm>
          <a:prstGeom prst="rect">
            <a:avLst/>
          </a:prstGeom>
          <a:solidFill>
            <a:srgbClr val="6899F4"/>
          </a:solidFill>
          <a:ln w="10160">
            <a:solidFill>
              <a:srgbClr val="689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25168"/>
            <a:ext cx="1078992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6899F4"/>
                </a:solidFill>
                <a:latin typeface="Microsoft YaHei"/>
              </a:defRPr>
            </a:pPr>
            <a:r>
              <a:t>25.60°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931920"/>
            <a:ext cx="107899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10001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34056" y="2436064"/>
            <a:ext cx="804672" cy="1404415"/>
          </a:xfrm>
          <a:prstGeom prst="rect">
            <a:avLst/>
          </a:prstGeom>
          <a:solidFill>
            <a:srgbClr val="2E976D"/>
          </a:solidFill>
          <a:ln w="10160">
            <a:solidFill>
              <a:srgbClr val="2E9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6896" y="2125168"/>
            <a:ext cx="1078992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2E976D"/>
                </a:solidFill>
                <a:latin typeface="Microsoft YaHei"/>
              </a:defRPr>
            </a:pPr>
            <a:r>
              <a:t>25.60°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896" y="3931920"/>
            <a:ext cx="107899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10500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5384" y="2266418"/>
            <a:ext cx="804672" cy="1574061"/>
          </a:xfrm>
          <a:prstGeom prst="rect">
            <a:avLst/>
          </a:prstGeom>
          <a:solidFill>
            <a:srgbClr val="2F6FED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78224" y="1955522"/>
            <a:ext cx="1078992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2F6FED"/>
                </a:solidFill>
                <a:latin typeface="Microsoft YaHei"/>
              </a:defRPr>
            </a:pPr>
            <a:r>
              <a:t>28.69°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78224" y="3931920"/>
            <a:ext cx="107899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35000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33271" y="3840480"/>
            <a:ext cx="4544569" cy="0"/>
          </a:xfrm>
          <a:prstGeom prst="line">
            <a:avLst/>
          </a:prstGeom>
          <a:ln w="1524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99632" y="1042415"/>
            <a:ext cx="5394960" cy="3236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261872"/>
            <a:ext cx="493776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5233C"/>
                </a:solidFill>
                <a:latin typeface="Microsoft YaHei"/>
              </a:defRPr>
            </a:pPr>
            <a:r>
              <a:t>CV3L 平均角误差（°）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479376"/>
            <a:ext cx="804672" cy="1361103"/>
          </a:xfrm>
          <a:prstGeom prst="rect">
            <a:avLst/>
          </a:prstGeom>
          <a:solidFill>
            <a:srgbClr val="6899F4"/>
          </a:solidFill>
          <a:ln w="10160">
            <a:solidFill>
              <a:srgbClr val="689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168480"/>
            <a:ext cx="1078992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6899F4"/>
                </a:solidFill>
                <a:latin typeface="Microsoft YaHei"/>
              </a:defRPr>
            </a:pPr>
            <a:r>
              <a:t>24.81°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931920"/>
            <a:ext cx="107899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10001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2479376"/>
            <a:ext cx="804672" cy="1361103"/>
          </a:xfrm>
          <a:prstGeom prst="rect">
            <a:avLst/>
          </a:prstGeom>
          <a:solidFill>
            <a:srgbClr val="2E976D"/>
          </a:solidFill>
          <a:ln w="10160">
            <a:solidFill>
              <a:srgbClr val="2E9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2168480"/>
            <a:ext cx="1078992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2E976D"/>
                </a:solidFill>
                <a:latin typeface="Microsoft YaHei"/>
              </a:defRPr>
            </a:pPr>
            <a:r>
              <a:t>24.81°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3931920"/>
            <a:ext cx="107899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10500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0656" y="2138352"/>
            <a:ext cx="804672" cy="1702127"/>
          </a:xfrm>
          <a:prstGeom prst="rect">
            <a:avLst/>
          </a:prstGeom>
          <a:solidFill>
            <a:srgbClr val="E57A44"/>
          </a:solidFill>
          <a:ln w="10160">
            <a:solidFill>
              <a:srgbClr val="E5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83496" y="1827456"/>
            <a:ext cx="1078992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E57A44"/>
                </a:solidFill>
                <a:latin typeface="Microsoft YaHei"/>
              </a:defRPr>
            </a:pPr>
            <a:r>
              <a:t>31.02°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3496" y="3931920"/>
            <a:ext cx="107899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35000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638544" y="3840480"/>
            <a:ext cx="4544568" cy="0"/>
          </a:xfrm>
          <a:prstGeom prst="line">
            <a:avLst/>
          </a:prstGeom>
          <a:ln w="1524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94360" y="4590288"/>
            <a:ext cx="11000232" cy="1097280"/>
          </a:xfrm>
          <a:prstGeom prst="roundRect">
            <a:avLst/>
          </a:prstGeom>
          <a:solidFill>
            <a:srgbClr val="FDEFE6"/>
          </a:solidFill>
          <a:ln w="10160">
            <a:solidFill>
              <a:srgbClr val="FD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4828032"/>
            <a:ext cx="1984248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E57A44"/>
                </a:solidFill>
                <a:latin typeface="Microsoft YaHei"/>
              </a:defRPr>
            </a:pPr>
            <a:r>
              <a:t>同一轮实验的强证据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07792" y="4754880"/>
            <a:ext cx="8357616" cy="7132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216"/>
              </a:spcAft>
              <a:defRPr sz="1450">
                <a:solidFill>
                  <a:srgbClr val="1F2937"/>
                </a:solidFill>
                <a:latin typeface="Microsoft YaHei"/>
              </a:defRPr>
            </a:pPr>
            <a:r>
              <a:t>•  10001 与 10500 指标完全相同：调度修复生效，albedo-only 没有暗中改 normal。</a:t>
            </a:r>
          </a:p>
          <a:p>
            <a:pPr>
              <a:spcAft>
                <a:spcPts val="216"/>
              </a:spcAft>
              <a:defRPr sz="1450">
                <a:solidFill>
                  <a:srgbClr val="1F2937"/>
                </a:solidFill>
                <a:latin typeface="Microsoft YaHei"/>
              </a:defRPr>
            </a:pPr>
            <a:r>
              <a:t>•  10500 之后只有 independent normal 可训；两个数据集都退化，因此 RGB Lambertian 梯度本身没有朝 GT normal 收敛。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来源：normal_metrics.json @ 10001 / 10500 / 35000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CV3：同一实验中 normal-only 训练前后对比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89520" y="310896"/>
            <a:ext cx="402336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100" b="0">
                <a:solidFill>
                  <a:srgbClr val="667085"/>
                </a:solidFill>
                <a:latin typeface="Microsoft YaHei"/>
              </a:defRPr>
            </a:pPr>
            <a:r>
              <a:t>alpha &gt; 0.5；误差图越亮表示角误差越大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32688"/>
            <a:ext cx="345643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960120"/>
            <a:ext cx="3310127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2F6FED"/>
                </a:solidFill>
                <a:latin typeface="Microsoft YaHei"/>
              </a:defRPr>
            </a:pPr>
            <a:r>
              <a:t>iter 10001  |  Albedo 阶段起点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456432" cy="941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s_normal_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16234"/>
            <a:ext cx="3456432" cy="6525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2340864"/>
            <a:ext cx="345643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  <a:latin typeface="Microsoft YaHei"/>
              </a:defRPr>
            </a:pPr>
            <a:r>
              <a:t>独立 normal 渲染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33472"/>
            <a:ext cx="3456432" cy="941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rmal_error_contact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78106"/>
            <a:ext cx="3456432" cy="6525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602736"/>
            <a:ext cx="345643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  <a:latin typeface="Microsoft YaHei"/>
              </a:defRPr>
            </a:pPr>
            <a:r>
              <a:t>逐像素角误差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77639"/>
            <a:ext cx="345643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142232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F6FED"/>
                </a:solidFill>
                <a:latin typeface="Microsoft YaHei"/>
              </a:defRPr>
            </a:pPr>
            <a:r>
              <a:t>Mean  25.60°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4142232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Median  15.90°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5496" y="4142232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P95  74.92°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932688"/>
            <a:ext cx="345643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960120"/>
            <a:ext cx="3310127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2E976D"/>
                </a:solidFill>
                <a:latin typeface="Microsoft YaHei"/>
              </a:defRPr>
            </a:pPr>
            <a:r>
              <a:t>iter 10500  |  Albedo 阶段结束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2" y="1371600"/>
            <a:ext cx="3456432" cy="941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s_normal_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516234"/>
            <a:ext cx="3456432" cy="65256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70832" y="2340864"/>
            <a:ext cx="345643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  <a:latin typeface="Microsoft YaHei"/>
              </a:defRPr>
            </a:pPr>
            <a:r>
              <a:t>独立 normal 渲染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2" y="2633472"/>
            <a:ext cx="3456432" cy="941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normal_error_contact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778106"/>
            <a:ext cx="3456432" cy="65256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70832" y="3602736"/>
            <a:ext cx="345643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  <a:latin typeface="Microsoft YaHei"/>
              </a:defRPr>
            </a:pPr>
            <a:r>
              <a:t>逐像素角误差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3977639"/>
            <a:ext cx="345643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4142232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E976D"/>
                </a:solidFill>
                <a:latin typeface="Microsoft YaHei"/>
              </a:defRPr>
            </a:pPr>
            <a:r>
              <a:t>Mean  25.60°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1264" y="4142232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Median  15.90°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4142232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P95  74.92°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38744" y="932688"/>
            <a:ext cx="345643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6" y="960120"/>
            <a:ext cx="3310127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E57A44"/>
                </a:solidFill>
                <a:latin typeface="Microsoft YaHei"/>
              </a:defRPr>
            </a:pPr>
            <a:r>
              <a:t>iter 35000  |  Normal-only 结束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1371600"/>
            <a:ext cx="3456432" cy="941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gs_normal_contact_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1516234"/>
            <a:ext cx="3456432" cy="65256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38744" y="2340864"/>
            <a:ext cx="345643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  <a:latin typeface="Microsoft YaHei"/>
              </a:defRPr>
            </a:pPr>
            <a:r>
              <a:t>独立 normal 渲染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38744" y="2633472"/>
            <a:ext cx="3456432" cy="941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normal_error_contact_she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744" y="2778106"/>
            <a:ext cx="3456432" cy="65256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38744" y="3602736"/>
            <a:ext cx="345643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  <a:latin typeface="Microsoft YaHei"/>
              </a:defRPr>
            </a:pPr>
            <a:r>
              <a:t>逐像素角误差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38744" y="3977639"/>
            <a:ext cx="345643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03336" y="4142232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E57A44"/>
                </a:solidFill>
                <a:latin typeface="Microsoft YaHei"/>
              </a:defRPr>
            </a:pPr>
            <a:r>
              <a:t>Mean  28.69°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9176" y="4142232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Median  22.61°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4142232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P95  68.81°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" y="5010912"/>
            <a:ext cx="11064240" cy="987552"/>
          </a:xfrm>
          <a:prstGeom prst="roundRect">
            <a:avLst/>
          </a:prstGeom>
          <a:solidFill>
            <a:srgbClr val="FDEFE6"/>
          </a:solidFill>
          <a:ln w="10160">
            <a:solidFill>
              <a:srgbClr val="FD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5257800"/>
            <a:ext cx="1056132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E57A44"/>
                </a:solidFill>
                <a:latin typeface="Microsoft YaHei"/>
              </a:defRPr>
            </a:pPr>
            <a:r>
              <a:t>10001 → 10500 完全不变，验证 normal 确实被冻结；10500 → 35000 平均误差 +3.09°，中位误差 +6.71°。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来源：output/0817-04-CV3-GTlight_i5p5_A500_Nonly_lr1e4/normal_gt_eval_independent/ours_{10001,10500,35000}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CV3L：同一实验中 normal-only 训练前后对比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89520" y="310896"/>
            <a:ext cx="402336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100" b="0">
                <a:solidFill>
                  <a:srgbClr val="667085"/>
                </a:solidFill>
                <a:latin typeface="Microsoft YaHei"/>
              </a:defRPr>
            </a:pPr>
            <a:r>
              <a:t>alpha &gt; 0.5；误差图越亮表示角误差越大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32688"/>
            <a:ext cx="345643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960120"/>
            <a:ext cx="3310127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2F6FED"/>
                </a:solidFill>
                <a:latin typeface="Microsoft YaHei"/>
              </a:defRPr>
            </a:pPr>
            <a:r>
              <a:t>iter 10001  |  Albedo 阶段起点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456432" cy="941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s_normal_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16234"/>
            <a:ext cx="3456432" cy="6525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2340864"/>
            <a:ext cx="345643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  <a:latin typeface="Microsoft YaHei"/>
              </a:defRPr>
            </a:pPr>
            <a:r>
              <a:t>独立 normal 渲染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33472"/>
            <a:ext cx="3456432" cy="941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rmal_error_contact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78106"/>
            <a:ext cx="3456432" cy="6525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602736"/>
            <a:ext cx="345643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  <a:latin typeface="Microsoft YaHei"/>
              </a:defRPr>
            </a:pPr>
            <a:r>
              <a:t>逐像素角误差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77639"/>
            <a:ext cx="345643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142232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F6FED"/>
                </a:solidFill>
                <a:latin typeface="Microsoft YaHei"/>
              </a:defRPr>
            </a:pPr>
            <a:r>
              <a:t>Mean  24.81°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4142232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Median  18.50°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5496" y="4142232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P95  65.87°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932688"/>
            <a:ext cx="345643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960120"/>
            <a:ext cx="3310127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2E976D"/>
                </a:solidFill>
                <a:latin typeface="Microsoft YaHei"/>
              </a:defRPr>
            </a:pPr>
            <a:r>
              <a:t>iter 10500  |  Albedo 阶段结束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2" y="1371600"/>
            <a:ext cx="3456432" cy="941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s_normal_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516234"/>
            <a:ext cx="3456432" cy="65256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70832" y="2340864"/>
            <a:ext cx="345643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  <a:latin typeface="Microsoft YaHei"/>
              </a:defRPr>
            </a:pPr>
            <a:r>
              <a:t>独立 normal 渲染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2" y="2633472"/>
            <a:ext cx="3456432" cy="941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normal_error_contact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778106"/>
            <a:ext cx="3456432" cy="65256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70832" y="3602736"/>
            <a:ext cx="345643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  <a:latin typeface="Microsoft YaHei"/>
              </a:defRPr>
            </a:pPr>
            <a:r>
              <a:t>逐像素角误差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3977639"/>
            <a:ext cx="345643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4142232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E976D"/>
                </a:solidFill>
                <a:latin typeface="Microsoft YaHei"/>
              </a:defRPr>
            </a:pPr>
            <a:r>
              <a:t>Mean  24.81°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1264" y="4142232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Median  18.50°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4142232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P95  65.87°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38744" y="932688"/>
            <a:ext cx="345643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6" y="960120"/>
            <a:ext cx="3310127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E57A44"/>
                </a:solidFill>
                <a:latin typeface="Microsoft YaHei"/>
              </a:defRPr>
            </a:pPr>
            <a:r>
              <a:t>iter 35000  |  Normal-only 结束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1371600"/>
            <a:ext cx="3456432" cy="941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gs_normal_contact_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1516234"/>
            <a:ext cx="3456432" cy="65256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38744" y="2340864"/>
            <a:ext cx="345643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  <a:latin typeface="Microsoft YaHei"/>
              </a:defRPr>
            </a:pPr>
            <a:r>
              <a:t>独立 normal 渲染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38744" y="2633472"/>
            <a:ext cx="3456432" cy="941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normal_error_contact_she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744" y="2778106"/>
            <a:ext cx="3456432" cy="65256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38744" y="3602736"/>
            <a:ext cx="345643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  <a:latin typeface="Microsoft YaHei"/>
              </a:defRPr>
            </a:pPr>
            <a:r>
              <a:t>逐像素角误差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38744" y="3977639"/>
            <a:ext cx="3456432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03336" y="4142232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E57A44"/>
                </a:solidFill>
                <a:latin typeface="Microsoft YaHei"/>
              </a:defRPr>
            </a:pPr>
            <a:r>
              <a:t>Mean  31.02°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9176" y="4142232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Median  24.15°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4142232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P95  81.14°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" y="5010912"/>
            <a:ext cx="11064240" cy="987552"/>
          </a:xfrm>
          <a:prstGeom prst="roundRect">
            <a:avLst/>
          </a:prstGeom>
          <a:solidFill>
            <a:srgbClr val="FDEFE6"/>
          </a:solidFill>
          <a:ln w="10160">
            <a:solidFill>
              <a:srgbClr val="FD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5257800"/>
            <a:ext cx="1056132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E57A44"/>
                </a:solidFill>
                <a:latin typeface="Microsoft YaHei"/>
              </a:defRPr>
            </a:pPr>
            <a:r>
              <a:t>10001 → 10500 完全不变，验证 normal 确实被冻结；10500 → 35000 平均误差 +6.22°，P95 +15.27°。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来源：output/0817-05-CV3L-GTlight_i7p8435_A500_Nonly_lr1e4/normal_gt_eval_independent/ours_{10001,10500,35000}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SH baseline 对照：RGB 拟合基础良好，但不能证明 Lambertian normal 可恢复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03504" y="1088136"/>
            <a:ext cx="10991088" cy="2130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353312"/>
            <a:ext cx="157276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Microsoft YaHei"/>
              </a:defRPr>
            </a:pPr>
            <a:r>
              <a:t>数据集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9152" y="1353312"/>
            <a:ext cx="162763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Microsoft YaHei"/>
              </a:defRPr>
            </a:pPr>
            <a:r>
              <a:t>PSNR 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86784" y="1353312"/>
            <a:ext cx="162763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Microsoft YaHei"/>
              </a:defRPr>
            </a:pPr>
            <a:r>
              <a:t>SSIM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4416" y="1353312"/>
            <a:ext cx="162763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Microsoft YaHei"/>
              </a:defRPr>
            </a:pPr>
            <a:r>
              <a:t>LPIPS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1353312"/>
            <a:ext cx="162763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Microsoft YaHei"/>
              </a:defRPr>
            </a:pPr>
            <a:r>
              <a:t>MS-SSIM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353312"/>
            <a:ext cx="19659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Microsoft YaHei"/>
              </a:defRPr>
            </a:pPr>
            <a:r>
              <a:t>Alex-LPIPS 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1746504"/>
            <a:ext cx="10671048" cy="438912"/>
          </a:xfrm>
          <a:prstGeom prst="rect">
            <a:avLst/>
          </a:prstGeom>
          <a:solidFill>
            <a:srgbClr val="F7F8FB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819656"/>
            <a:ext cx="157276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2F6FED"/>
                </a:solidFill>
                <a:latin typeface="Microsoft YaHei"/>
              </a:defRPr>
            </a:pPr>
            <a:r>
              <a:t>CV3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819656"/>
            <a:ext cx="162763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2F6FED"/>
                </a:solidFill>
                <a:latin typeface="Microsoft YaHei"/>
              </a:defRPr>
            </a:pPr>
            <a:r>
              <a:t>36.13052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6784" y="1819656"/>
            <a:ext cx="162763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2F6FED"/>
                </a:solidFill>
                <a:latin typeface="Microsoft YaHei"/>
              </a:defRPr>
            </a:pPr>
            <a:r>
              <a:t>0.98804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4416" y="1819656"/>
            <a:ext cx="162763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2F6FED"/>
                </a:solidFill>
                <a:latin typeface="Microsoft YaHei"/>
              </a:defRPr>
            </a:pPr>
            <a:r>
              <a:t>0.02326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1819656"/>
            <a:ext cx="162763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2F6FED"/>
                </a:solidFill>
                <a:latin typeface="Microsoft YaHei"/>
              </a:defRPr>
            </a:pPr>
            <a:r>
              <a:t>0.99490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819656"/>
            <a:ext cx="1965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2F6FED"/>
                </a:solidFill>
                <a:latin typeface="Microsoft YaHei"/>
              </a:defRPr>
            </a:pPr>
            <a:r>
              <a:t>0.01818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2286000"/>
            <a:ext cx="10671048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359152"/>
            <a:ext cx="157276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E57A44"/>
                </a:solidFill>
                <a:latin typeface="Microsoft YaHei"/>
              </a:defRPr>
            </a:pPr>
            <a:r>
              <a:t>CV3L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2359152"/>
            <a:ext cx="162763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E57A44"/>
                </a:solidFill>
                <a:latin typeface="Microsoft YaHei"/>
              </a:defRPr>
            </a:pPr>
            <a:r>
              <a:t>36.43810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359152"/>
            <a:ext cx="162763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E57A44"/>
                </a:solidFill>
                <a:latin typeface="Microsoft YaHei"/>
              </a:defRPr>
            </a:pPr>
            <a:r>
              <a:t>0.98963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4416" y="2359152"/>
            <a:ext cx="162763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E57A44"/>
                </a:solidFill>
                <a:latin typeface="Microsoft YaHei"/>
              </a:defRPr>
            </a:pPr>
            <a:r>
              <a:t>0.02492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2359152"/>
            <a:ext cx="162763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E57A44"/>
                </a:solidFill>
                <a:latin typeface="Microsoft YaHei"/>
              </a:defRPr>
            </a:pPr>
            <a:r>
              <a:t>0.99579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359152"/>
            <a:ext cx="1965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E57A44"/>
                </a:solidFill>
                <a:latin typeface="Microsoft YaHei"/>
              </a:defRPr>
            </a:pPr>
            <a:r>
              <a:t>0.02290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2825496"/>
            <a:ext cx="6217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  <a:latin typeface="Microsoft YaHei"/>
              </a:defRPr>
            </a:pPr>
            <a:r>
              <a:t>历史 SH baseline（数据加载与原 Stage 1 RGB 拟合参考）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" y="3621024"/>
            <a:ext cx="335584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739896"/>
            <a:ext cx="302666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Microsoft YaHei"/>
              </a:defRPr>
            </a:pPr>
            <a:r>
              <a:t>本轮 CV3 SH 阶段最佳 PSNR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986784"/>
            <a:ext cx="3026664" cy="347472"/>
          </a:xfrm>
          <a:prstGeom prst="rect">
            <a:avLst/>
          </a:prstGeom>
          <a:noFill/>
        </p:spPr>
        <p:txBody>
          <a:bodyPr wrap="none" lIns="45720" rIns="45720" tIns="36576" bIns="36576" anchor="t">
            <a:spAutoFit/>
          </a:bodyPr>
          <a:lstStyle/>
          <a:p>
            <a:r>
              <a:rPr sz="2500" b="1">
                <a:solidFill>
                  <a:srgbClr val="2F6FED"/>
                </a:solidFill>
                <a:latin typeface="Microsoft YaHei"/>
              </a:rPr>
              <a:t>38.049</a:t>
            </a:r>
            <a:r>
              <a:rPr sz="2500" b="0">
                <a:solidFill>
                  <a:srgbClr val="667085"/>
                </a:solidFill>
                <a:latin typeface="Microsoft YaHei"/>
              </a:rPr>
              <a:t> dB  @10000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6552" y="3621024"/>
            <a:ext cx="335584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144" y="3739896"/>
            <a:ext cx="302666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Microsoft YaHei"/>
              </a:defRPr>
            </a:pPr>
            <a:r>
              <a:t>本轮 CV3L SH 阶段最佳 PSNR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1144" y="3986784"/>
            <a:ext cx="3026664" cy="347472"/>
          </a:xfrm>
          <a:prstGeom prst="rect">
            <a:avLst/>
          </a:prstGeom>
          <a:noFill/>
        </p:spPr>
        <p:txBody>
          <a:bodyPr wrap="none" lIns="45720" rIns="45720" tIns="36576" bIns="36576" anchor="t">
            <a:spAutoFit/>
          </a:bodyPr>
          <a:lstStyle/>
          <a:p>
            <a:r>
              <a:rPr sz="2500" b="1">
                <a:solidFill>
                  <a:srgbClr val="E57A44"/>
                </a:solidFill>
                <a:latin typeface="Microsoft YaHei"/>
              </a:rPr>
              <a:t>36.640</a:t>
            </a:r>
            <a:r>
              <a:rPr sz="2500" b="0">
                <a:solidFill>
                  <a:srgbClr val="667085"/>
                </a:solidFill>
                <a:latin typeface="Microsoft YaHei"/>
              </a:rPr>
              <a:t> dB  @10000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621024"/>
            <a:ext cx="336499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3739896"/>
            <a:ext cx="303580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Microsoft YaHei"/>
              </a:defRPr>
            </a:pPr>
            <a:r>
              <a:t>随后的 normal-only 结果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3986784"/>
            <a:ext cx="3035808" cy="347472"/>
          </a:xfrm>
          <a:prstGeom prst="rect">
            <a:avLst/>
          </a:prstGeom>
          <a:noFill/>
        </p:spPr>
        <p:txBody>
          <a:bodyPr wrap="none" lIns="45720" rIns="45720" tIns="36576" bIns="36576" anchor="t">
            <a:spAutoFit/>
          </a:bodyPr>
          <a:lstStyle/>
          <a:p>
            <a:r>
              <a:rPr sz="2500" b="1">
                <a:solidFill>
                  <a:srgbClr val="C8424B"/>
                </a:solidFill>
                <a:latin typeface="Microsoft YaHei"/>
              </a:rPr>
              <a:t>FAILED</a:t>
            </a:r>
            <a:r>
              <a:rPr sz="2500" b="0">
                <a:solidFill>
                  <a:srgbClr val="667085"/>
                </a:solidFill>
                <a:latin typeface="Microsoft YaHe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4352544"/>
            <a:ext cx="3035808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CV3/CV3L 均退化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" y="4983480"/>
            <a:ext cx="10991088" cy="841248"/>
          </a:xfrm>
          <a:prstGeom prst="roundRect">
            <a:avLst/>
          </a:prstGeom>
          <a:solidFill>
            <a:srgbClr val="FDEFE6"/>
          </a:solidFill>
          <a:ln w="10160">
            <a:solidFill>
              <a:srgbClr val="FD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5230368"/>
            <a:ext cx="104698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E57A44"/>
                </a:solidFill>
                <a:latin typeface="Microsoft YaHei"/>
              </a:defRPr>
            </a:pPr>
            <a:r>
              <a:t>解读：SH 有足够外观自由度拟合 RGB，因此 PSNR 高只说明数据/相机/原渲染基础可用；它不保证物理 albedo 或 normal 正确。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来源：历史 SH baseline；train_stage1_resume_from_5000.log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哪些问题仍然存在：从“实现正确”到“反问题可解”还有缺口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03504" y="1069848"/>
            <a:ext cx="5358384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069848"/>
            <a:ext cx="73152" cy="1143000"/>
          </a:xfrm>
          <a:prstGeom prst="rect">
            <a:avLst/>
          </a:prstGeom>
          <a:solidFill>
            <a:srgbClr val="C84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16151"/>
            <a:ext cx="501091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C8424B"/>
                </a:solidFill>
                <a:latin typeface="Microsoft YaHei"/>
              </a:defRPr>
            </a:pPr>
            <a:r>
              <a:t>单方向不能确定 3D 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600200"/>
            <a:ext cx="5010912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30" b="0">
                <a:solidFill>
                  <a:srgbClr val="1F2937"/>
                </a:solidFill>
                <a:latin typeface="Microsoft YaHei"/>
              </a:defRPr>
            </a:pPr>
            <a:r>
              <a:t>单帧只约束 n·l；符合同一亮度的 normal 是一族解。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69848"/>
            <a:ext cx="5358384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69848"/>
            <a:ext cx="73152" cy="1143000"/>
          </a:xfrm>
          <a:prstGeom prst="rect">
            <a:avLst/>
          </a:prstGeom>
          <a:solidFill>
            <a:srgbClr val="E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16151"/>
            <a:ext cx="501091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E57A44"/>
                </a:solidFill>
                <a:latin typeface="Microsoft YaHei"/>
              </a:defRPr>
            </a:pPr>
            <a:r>
              <a:t>面光源 / 近场效应未建模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600200"/>
            <a:ext cx="5010912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30" b="0">
                <a:solidFill>
                  <a:srgbClr val="1F2937"/>
                </a:solidFill>
                <a:latin typeface="Microsoft YaHei"/>
              </a:defRPr>
            </a:pPr>
            <a:r>
              <a:t>全局 lightdir 的 GT oracle 只有约 16.5 dB，上限已偏低。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496312"/>
            <a:ext cx="5358384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" y="2496312"/>
            <a:ext cx="73152" cy="1143000"/>
          </a:xfrm>
          <a:prstGeom prst="rect">
            <a:avLst/>
          </a:prstGeom>
          <a:solidFill>
            <a:srgbClr val="C8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642616"/>
            <a:ext cx="501091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C84C8A"/>
                </a:solidFill>
                <a:latin typeface="Microsoft YaHei"/>
              </a:defRPr>
            </a:pPr>
            <a:r>
              <a:t>albedo-normal 可交换性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026664"/>
            <a:ext cx="5010912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30" b="0">
                <a:solidFill>
                  <a:srgbClr val="1F2937"/>
                </a:solidFill>
                <a:latin typeface="Microsoft YaHei"/>
              </a:defRPr>
            </a:pPr>
            <a:r>
              <a:t>分阶段降低了联合漂移，但光度模型仍可用错误 normal 近似 RGB。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96312"/>
            <a:ext cx="5358384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496312"/>
            <a:ext cx="73152" cy="1143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642616"/>
            <a:ext cx="501091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F6FED"/>
                </a:solidFill>
                <a:latin typeface="Microsoft YaHei"/>
              </a:defRPr>
            </a:pPr>
            <a:r>
              <a:t>初始先验只能防漂移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026664"/>
            <a:ext cx="5010912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30" b="0">
                <a:solidFill>
                  <a:srgbClr val="1F2937"/>
                </a:solidFill>
                <a:latin typeface="Microsoft YaHei"/>
              </a:defRPr>
            </a:pPr>
            <a:r>
              <a:t>trust prior 没有提供指向 GT 的梯度；初始 normal 有误时会被保留。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3922776"/>
            <a:ext cx="5358384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" y="3922776"/>
            <a:ext cx="73152" cy="1143000"/>
          </a:xfrm>
          <a:prstGeom prst="rect">
            <a:avLst/>
          </a:prstGeom>
          <a:solidFill>
            <a:srgbClr val="E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069080"/>
            <a:ext cx="501091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E57A44"/>
                </a:solidFill>
                <a:latin typeface="Microsoft YaHei"/>
              </a:defRPr>
            </a:pPr>
            <a:r>
              <a:t>2DGS alpha 混合与边缘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453128"/>
            <a:ext cx="5010912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30" b="0">
                <a:solidFill>
                  <a:srgbClr val="1F2937"/>
                </a:solidFill>
                <a:latin typeface="Microsoft YaHei"/>
              </a:defRPr>
            </a:pPr>
            <a:r>
              <a:t>逐 Gaussian normal 在 raster 后被 alpha 混合，轮廓/薄结构/遮挡处误差可被放大。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22776"/>
            <a:ext cx="5358384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922776"/>
            <a:ext cx="73152" cy="1143000"/>
          </a:xfrm>
          <a:prstGeom prst="rect">
            <a:avLst/>
          </a:prstGeom>
          <a:solidFill>
            <a:srgbClr val="2E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4069080"/>
            <a:ext cx="501091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E976D"/>
                </a:solidFill>
                <a:latin typeface="Microsoft YaHei"/>
              </a:defRPr>
            </a:pPr>
            <a:r>
              <a:t>缺少方向性梯度验证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453128"/>
            <a:ext cx="5010912" cy="484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30" b="0">
                <a:solidFill>
                  <a:srgbClr val="1F2937"/>
                </a:solidFill>
                <a:latin typeface="Microsoft YaHei"/>
              </a:defRPr>
            </a:pPr>
            <a:r>
              <a:t>尚未系统测 grad·(n_gt-n)、有限差分，以及布/椅背/椅脚/台面分区结果。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5404104"/>
            <a:ext cx="10972800" cy="438912"/>
          </a:xfrm>
          <a:prstGeom prst="roundRect">
            <a:avLst/>
          </a:prstGeom>
          <a:solidFill>
            <a:srgbClr val="FBEBED"/>
          </a:solidFill>
          <a:ln w="10160">
            <a:solidFill>
              <a:srgbClr val="FB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522976"/>
            <a:ext cx="1053388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C8424B"/>
                </a:solidFill>
                <a:latin typeface="Microsoft YaHei"/>
              </a:defRPr>
            </a:pPr>
            <a:r>
              <a:t>当前状态：“工程链路已大致校正” ≠ “光度法线反演可解”。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来源：本轮审计结论与待验证假设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5233C"/>
                </a:solidFill>
                <a:latin typeface="Microsoft YaHei"/>
              </a:defRPr>
            </a:pPr>
            <a:r>
              <a:t>下一轮实验建议：先用 N0 oracle 分界，再决定审计光照还是 raster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" y="804672"/>
            <a:ext cx="11100816" cy="0"/>
          </a:xfrm>
          <a:prstGeom prst="line">
            <a:avLst/>
          </a:prstGeom>
          <a:ln w="12700">
            <a:solidFill>
              <a:srgbClr val="DD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85216" y="1097280"/>
            <a:ext cx="2999232" cy="109728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25603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900" b="1">
                <a:solidFill>
                  <a:srgbClr val="2F6FED"/>
                </a:solidFill>
                <a:latin typeface="Microsoft YaHei"/>
              </a:defRPr>
            </a:pPr>
            <a:r>
              <a:t>N0  GT-normal oracle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709928"/>
            <a:ext cx="25603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固定 geometry / albedo / light</a:t>
            </a:r>
            <a:br/>
            <a:r>
              <a:t>只训练 independent normal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02736" y="1645920"/>
            <a:ext cx="987552" cy="0"/>
          </a:xfrm>
          <a:prstGeom prst="line">
            <a:avLst/>
          </a:prstGeom>
          <a:ln w="3175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08576" y="1051560"/>
            <a:ext cx="2980944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44168"/>
            <a:ext cx="252374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900" b="1">
                <a:solidFill>
                  <a:srgbClr val="15233C"/>
                </a:solidFill>
                <a:latin typeface="Microsoft YaHei"/>
              </a:defRPr>
            </a:pPr>
            <a:r>
              <a:t>N0 是否显著收敛？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737360"/>
            <a:ext cx="2523744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50" b="0">
                <a:solidFill>
                  <a:srgbClr val="667085"/>
                </a:solidFill>
                <a:latin typeface="Microsoft YaHei"/>
              </a:defRPr>
            </a:pPr>
            <a:r>
              <a:t>先检查表示、求导、存取与 evaluator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598664" y="932688"/>
            <a:ext cx="740663" cy="484632"/>
          </a:xfrm>
          <a:prstGeom prst="line">
            <a:avLst/>
          </a:prstGeom>
          <a:ln w="27940">
            <a:solidFill>
              <a:srgbClr val="2E9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98664" y="1874519"/>
            <a:ext cx="740663" cy="612649"/>
          </a:xfrm>
          <a:prstGeom prst="line">
            <a:avLst/>
          </a:prstGeom>
          <a:ln w="27940">
            <a:solidFill>
              <a:srgbClr val="C84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57616" y="850392"/>
            <a:ext cx="3218688" cy="932688"/>
          </a:xfrm>
          <a:prstGeom prst="roundRect">
            <a:avLst/>
          </a:prstGeom>
          <a:solidFill>
            <a:srgbClr val="E8F7F0"/>
          </a:solidFill>
          <a:ln w="10160">
            <a:solidFill>
              <a:srgbClr val="2E9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060704"/>
            <a:ext cx="2743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2E976D"/>
                </a:solidFill>
                <a:latin typeface="Microsoft YaHei"/>
              </a:defRPr>
            </a:pPr>
            <a:r>
              <a:t>PASS：实现链可用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399032"/>
            <a:ext cx="27432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转向光照/可辨识性实验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6" y="2093976"/>
            <a:ext cx="3218688" cy="932688"/>
          </a:xfrm>
          <a:prstGeom prst="roundRect">
            <a:avLst/>
          </a:prstGeom>
          <a:solidFill>
            <a:srgbClr val="FBEBED"/>
          </a:solidFill>
          <a:ln w="10160">
            <a:solidFill>
              <a:srgbClr val="C84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2304288"/>
            <a:ext cx="27889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C8424B"/>
                </a:solidFill>
                <a:latin typeface="Microsoft YaHei"/>
              </a:defRPr>
            </a:pPr>
            <a:r>
              <a:t>FAILED：实现链仍有问题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2642616"/>
            <a:ext cx="2788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  <a:latin typeface="Microsoft YaHei"/>
              </a:defRPr>
            </a:pPr>
            <a:r>
              <a:t>审计 independent normal / raster / evaluator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456432"/>
            <a:ext cx="3749039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5233C"/>
                </a:solidFill>
                <a:latin typeface="Microsoft YaHei"/>
              </a:defRPr>
            </a:pPr>
            <a:r>
              <a:t>N0 通过后的最小实验矩阵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3886200"/>
            <a:ext cx="3438144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078224"/>
            <a:ext cx="493776" cy="310896"/>
          </a:xfrm>
          <a:prstGeom prst="roundRect">
            <a:avLst/>
          </a:prstGeom>
          <a:solidFill>
            <a:srgbClr val="2F6FED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105656"/>
            <a:ext cx="347472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N1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59936"/>
            <a:ext cx="2432304" cy="2834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F6FED"/>
                </a:solidFill>
                <a:latin typeface="Microsoft YaHei"/>
              </a:defRPr>
            </a:pPr>
            <a:r>
              <a:t>RGB-only normal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517136"/>
            <a:ext cx="3072384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50" b="0">
                <a:solidFill>
                  <a:srgbClr val="1F2937"/>
                </a:solidFill>
                <a:latin typeface="Microsoft YaHei"/>
              </a:defRPr>
            </a:pPr>
            <a:r>
              <a:t>固定 GT light / geometry / albedo，复现反问题本身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3886200"/>
            <a:ext cx="3438144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71416" y="4078224"/>
            <a:ext cx="493776" cy="310896"/>
          </a:xfrm>
          <a:prstGeom prst="roundRect">
            <a:avLst/>
          </a:prstGeom>
          <a:solidFill>
            <a:srgbClr val="C84C8A"/>
          </a:solidFill>
          <a:ln w="10160">
            <a:solidFill>
              <a:srgbClr val="C84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8" y="4105656"/>
            <a:ext cx="347472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N2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4059936"/>
            <a:ext cx="2432304" cy="2834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C84C8A"/>
                </a:solidFill>
                <a:latin typeface="Microsoft YaHei"/>
              </a:defRPr>
            </a:pPr>
            <a:r>
              <a:t>per-GS / point light oracle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4517136"/>
            <a:ext cx="3072384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50" b="0">
                <a:solidFill>
                  <a:srgbClr val="1F2937"/>
                </a:solidFill>
                <a:latin typeface="Microsoft YaHei"/>
              </a:defRPr>
            </a:pPr>
            <a:r>
              <a:t>使用空间变化的真实光向，测全局 lightdir 的责任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3886200"/>
            <a:ext cx="3438144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65592" y="4078224"/>
            <a:ext cx="493776" cy="310896"/>
          </a:xfrm>
          <a:prstGeom prst="roundRect">
            <a:avLst/>
          </a:prstGeom>
          <a:solidFill>
            <a:srgbClr val="E57A44"/>
          </a:solidFill>
          <a:ln w="10160">
            <a:solidFill>
              <a:srgbClr val="E5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8744" y="4105656"/>
            <a:ext cx="347472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N3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9952" y="4059936"/>
            <a:ext cx="2432304" cy="2834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E57A44"/>
                </a:solidFill>
                <a:latin typeface="Microsoft YaHei"/>
              </a:defRPr>
            </a:pPr>
            <a:r>
              <a:t>梯度方向审计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4517136"/>
            <a:ext cx="3072384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50" b="0">
                <a:solidFill>
                  <a:srgbClr val="1F2937"/>
                </a:solidFill>
                <a:latin typeface="Microsoft YaHei"/>
              </a:defRPr>
            </a:pPr>
            <a:r>
              <a:t>记录 grad·(n_gt-n) + finite difference + 分区统计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" y="5522976"/>
            <a:ext cx="10826496" cy="457200"/>
          </a:xfrm>
          <a:prstGeom prst="roundRect">
            <a:avLst/>
          </a:prstGeom>
          <a:solidFill>
            <a:srgbClr val="FDEFE6"/>
          </a:solidFill>
          <a:ln w="10160">
            <a:solidFill>
              <a:srgbClr val="FD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641848"/>
            <a:ext cx="1036015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E57A44"/>
                </a:solidFill>
                <a:latin typeface="Microsoft YaHei"/>
              </a:defRPr>
            </a:pPr>
            <a:r>
              <a:t>停止条件：N0 没有通过前，不再启动新的 35k photometric 全量训练。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10607040" cy="173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67085"/>
                </a:solidFill>
                <a:latin typeface="Microsoft YaHei"/>
              </a:defRPr>
            </a:pPr>
            <a:r>
              <a:t>来源：建议的下一轮可证伪实验设计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40080"/>
            <a:ext cx="10652760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阶段性结论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280160"/>
            <a:ext cx="1069848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200" b="1">
                <a:solidFill>
                  <a:srgbClr val="C5D2E8"/>
                </a:solidFill>
                <a:latin typeface="Microsoft YaHei"/>
              </a:defRPr>
            </a:pPr>
            <a:r>
              <a:t>我们已经把“为什么 normal 不好”从一个混杂问题，缩小成两条可验证分支。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103120"/>
            <a:ext cx="342900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2103120"/>
            <a:ext cx="73152" cy="2148840"/>
          </a:xfrm>
          <a:prstGeom prst="rect">
            <a:avLst/>
          </a:prstGeom>
          <a:solidFill>
            <a:srgbClr val="2E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249424"/>
            <a:ext cx="30815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E976D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633472"/>
            <a:ext cx="3081528" cy="1490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Microsoft YaHei"/>
              </a:defRPr>
            </a:pPr>
            <a:r>
              <a:t>✓ 坐标 / 手性 / transform 复审</a:t>
            </a:r>
            <a:br/>
            <a:r>
              <a:t>✓ insight 符号和 sRGB/linear 修复</a:t>
            </a:r>
            <a:br/>
            <a:r>
              <a:t>✓ CV3/CV3L 分别标定光强</a:t>
            </a:r>
            <a:br/>
            <a:r>
              <a:t>✓ 独立 normal 与真实调度</a:t>
            </a:r>
            <a:br/>
            <a:r>
              <a:t>✓ 双数据集 35k 复验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103120"/>
            <a:ext cx="342900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9976" y="2103120"/>
            <a:ext cx="73152" cy="2148840"/>
          </a:xfrm>
          <a:prstGeom prst="rect">
            <a:avLst/>
          </a:prstGeom>
          <a:solidFill>
            <a:srgbClr val="E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2249424"/>
            <a:ext cx="30815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E57A44"/>
                </a:solidFill>
                <a:latin typeface="Microsoft YaHei"/>
              </a:defRPr>
            </a:pPr>
            <a:r>
              <a:t>主要结论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633472"/>
            <a:ext cx="3081528" cy="1490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50" b="0">
                <a:solidFill>
                  <a:srgbClr val="1F2937"/>
                </a:solidFill>
                <a:latin typeface="Microsoft YaHei"/>
              </a:defRPr>
            </a:pPr>
            <a:r>
              <a:t>坐标和调度已不是主因。</a:t>
            </a:r>
            <a:br/>
            <a:br/>
            <a:r>
              <a:t>在当前的单全局 lightdir + RGB Lambertian loss 下，independent normal 不但没有恢复，反而在 CV3/CV3L 同时退化。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2103120"/>
            <a:ext cx="342900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2103120"/>
            <a:ext cx="73152" cy="214884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2249424"/>
            <a:ext cx="30815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F6FED"/>
                </a:solidFill>
                <a:latin typeface="Microsoft YaHei"/>
              </a:defRPr>
            </a:pPr>
            <a:r>
              <a:t>立即行动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633472"/>
            <a:ext cx="3081528" cy="1490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Microsoft YaHei"/>
              </a:defRPr>
            </a:pPr>
            <a:r>
              <a:t>1. 跑 N0 GT-normal oracle</a:t>
            </a:r>
            <a:br/>
            <a:r>
              <a:t>2. 同时记录方向性梯度</a:t>
            </a:r>
            <a:br/>
            <a:r>
              <a:t>3. 若 N0 PASS，比较 global lightdir 与 per-GS light</a:t>
            </a:r>
            <a:br/>
            <a:r>
              <a:t>4. 若 N0 FAILED，转向 raster/evaluator 实现审计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791456"/>
            <a:ext cx="10689336" cy="841248"/>
          </a:xfrm>
          <a:prstGeom prst="roundRect">
            <a:avLst/>
          </a:prstGeom>
          <a:solidFill>
            <a:srgbClr val="203150"/>
          </a:solidFill>
          <a:ln w="10160">
            <a:solidFill>
              <a:srgbClr val="39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038344"/>
            <a:ext cx="10204704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建议决策：批准 N0 oracle 作为下一轮唯一主实验，在它给出结果前暂停长周期 photometric 训练。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144768"/>
            <a:ext cx="3840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A5B2CC"/>
                </a:solidFill>
                <a:latin typeface="Microsoft YaHei"/>
              </a:defRPr>
            </a:pPr>
            <a:r>
              <a:t>CV3 / CV3L  |  2026-08-18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7664" y="6144768"/>
            <a:ext cx="38404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1000" b="0">
                <a:solidFill>
                  <a:srgbClr val="A5B2CC"/>
                </a:solidFill>
                <a:latin typeface="Microsoft Ya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Lambertian法线恢复审计与实验汇报</dc:title>
  <dc:subject>CV3/CV3L，GT per-light，独立 normal，坐标/光强/梯度/调度审计</dc:subject>
  <dc:creator>LumiMotion-perlight 审计</dc:creator>
  <cp:keywords/>
  <dc:description>自动生成；数值来自仓库内实验 JSON/日志和审计报告。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